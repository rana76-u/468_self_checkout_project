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oppins Bold" charset="1" panose="00000800000000000000"/>
      <p:regular r:id="rId20"/>
    </p:embeddedFont>
    <p:embeddedFont>
      <p:font typeface="Poppins" charset="1" panose="00000500000000000000"/>
      <p:regular r:id="rId21"/>
    </p:embeddedFont>
    <p:embeddedFont>
      <p:font typeface="Montserrat Bold" charset="1" panose="00000800000000000000"/>
      <p:regular r:id="rId22"/>
    </p:embeddedFont>
    <p:embeddedFont>
      <p:font typeface="Roboto" charset="1" panose="02000000000000000000"/>
      <p:regular r:id="rId23"/>
    </p:embeddedFont>
    <p:embeddedFont>
      <p:font typeface="Roboto Bold" charset="1" panose="02000000000000000000"/>
      <p:regular r:id="rId24"/>
    </p:embeddedFont>
    <p:embeddedFont>
      <p:font typeface="Montserrat" charset="1" panose="00000500000000000000"/>
      <p:regular r:id="rId25"/>
    </p:embeddedFont>
    <p:embeddedFont>
      <p:font typeface="Montserrat Semi-Bold" charset="1" panose="00000700000000000000"/>
      <p:regular r:id="rId26"/>
    </p:embeddedFont>
    <p:embeddedFont>
      <p:font typeface="Canva Sans Bold" charset="1" panose="020B0803030501040103"/>
      <p:regular r:id="rId27"/>
    </p:embeddedFont>
    <p:embeddedFont>
      <p:font typeface="Canva Sans" charset="1" panose="020B0503030501040103"/>
      <p:regular r:id="rId28"/>
    </p:embeddedFont>
    <p:embeddedFont>
      <p:font typeface="Fira Code Bold" charset="1" panose="020B0809050000020004"/>
      <p:regular r:id="rId29"/>
    </p:embeddedFont>
    <p:embeddedFont>
      <p:font typeface="Fira Code Semi-Bold" charset="1" panose="020B0809050000020004"/>
      <p:regular r:id="rId30"/>
    </p:embeddedFont>
    <p:embeddedFont>
      <p:font typeface="RoxboroughCF" charset="1" panose="00000500000000000000"/>
      <p:regular r:id="rId31"/>
    </p:embeddedFont>
    <p:embeddedFont>
      <p:font typeface="Chewy" charset="1" panose="020000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https://youtu.be/jqCTpxwdPgQ?si=CpJx1sH00_e7hsEZ" TargetMode="External" Type="http://schemas.openxmlformats.org/officeDocument/2006/relationships/video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70920" y="4251531"/>
            <a:ext cx="8737624" cy="8737624"/>
            <a:chOff x="0" y="0"/>
            <a:chExt cx="11650166" cy="1165016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80823" y="280823"/>
              <a:ext cx="11088520" cy="110885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33333">
                    <a:srgbClr val="000000">
                      <a:alpha val="40500"/>
                    </a:srgbClr>
                  </a:gs>
                  <a:gs pos="66667">
                    <a:srgbClr val="000000">
                      <a:alpha val="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circle">
                  <a:fillToRect l="50000" r="50000" t="50000" b="50000"/>
                </a:path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2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-6238028">
              <a:off x="1018114" y="1018114"/>
              <a:ext cx="9613937" cy="9613937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DFDFD">
                      <a:alpha val="100000"/>
                    </a:srgbClr>
                  </a:gs>
                  <a:gs pos="100000">
                    <a:srgbClr val="E4E4E4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3693913" y="-4368812"/>
            <a:ext cx="8737624" cy="8737624"/>
            <a:chOff x="0" y="0"/>
            <a:chExt cx="11650166" cy="1165016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280823" y="280823"/>
              <a:ext cx="11088520" cy="11088520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33333">
                    <a:srgbClr val="000000">
                      <a:alpha val="40500"/>
                    </a:srgbClr>
                  </a:gs>
                  <a:gs pos="66667">
                    <a:srgbClr val="000000">
                      <a:alpha val="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circle">
                  <a:fillToRect l="50000" r="50000" t="50000" b="50000"/>
                </a:path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2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6238028">
              <a:off x="1018114" y="1018114"/>
              <a:ext cx="9613937" cy="9613937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DFDFD">
                      <a:alpha val="100000"/>
                    </a:srgbClr>
                  </a:gs>
                  <a:gs pos="100000">
                    <a:srgbClr val="E4E4E4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sp>
        <p:nvSpPr>
          <p:cNvPr name="Freeform 16" id="16"/>
          <p:cNvSpPr/>
          <p:nvPr/>
        </p:nvSpPr>
        <p:spPr>
          <a:xfrm flipH="false" flipV="false" rot="0">
            <a:off x="10004755" y="3420005"/>
            <a:ext cx="7254545" cy="5150727"/>
          </a:xfrm>
          <a:custGeom>
            <a:avLst/>
            <a:gdLst/>
            <a:ahLst/>
            <a:cxnLst/>
            <a:rect r="r" b="b" t="t" l="l"/>
            <a:pathLst>
              <a:path h="5150727" w="7254545">
                <a:moveTo>
                  <a:pt x="0" y="0"/>
                </a:moveTo>
                <a:lnTo>
                  <a:pt x="7254545" y="0"/>
                </a:lnTo>
                <a:lnTo>
                  <a:pt x="7254545" y="5150726"/>
                </a:lnTo>
                <a:lnTo>
                  <a:pt x="0" y="51507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5842968"/>
            <a:ext cx="7903741" cy="711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9"/>
              </a:lnSpc>
            </a:pPr>
            <a:r>
              <a:rPr lang="en-US" sz="3697" b="true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Group: 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07511" y="4356045"/>
            <a:ext cx="8597244" cy="1258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8"/>
              </a:lnSpc>
            </a:pPr>
            <a:r>
              <a:rPr lang="en-US" sz="33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CSE468 </a:t>
            </a:r>
          </a:p>
          <a:p>
            <a:pPr algn="l">
              <a:lnSpc>
                <a:spcPts val="4968"/>
              </a:lnSpc>
            </a:pPr>
            <a:r>
              <a:rPr lang="en-US" sz="3334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Dr. Mohammad Shifat-E-Rabbi [MSRb]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5243" y="3495104"/>
            <a:ext cx="7534454" cy="66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4"/>
              </a:lnSpc>
            </a:pPr>
            <a:r>
              <a:rPr lang="en-US" sz="3499" b="true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Course &amp; Faculty: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1038225"/>
            <a:ext cx="16230600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  <a:spcBef>
                <a:spcPct val="0"/>
              </a:spcBef>
            </a:pPr>
            <a:r>
              <a:rPr lang="en-US" b="true" sz="6000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AI Self Checkout System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85483" y="2034797"/>
            <a:ext cx="8517033" cy="540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89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Real-time retail products detection and billing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28700" y="6754531"/>
            <a:ext cx="7913266" cy="2510420"/>
            <a:chOff x="0" y="0"/>
            <a:chExt cx="10551021" cy="3347227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12700" y="-152400"/>
              <a:ext cx="10538321" cy="897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09"/>
                </a:lnSpc>
              </a:pPr>
              <a:r>
                <a:rPr lang="en-US" sz="3697" b="true">
                  <a:solidFill>
                    <a:srgbClr val="22222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Team Members: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798610"/>
              <a:ext cx="10538321" cy="25486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2354" indent="-281177" lvl="1">
                <a:lnSpc>
                  <a:spcPts val="3880"/>
                </a:lnSpc>
                <a:buFont typeface="Arial"/>
                <a:buChar char="•"/>
              </a:pPr>
              <a:r>
                <a:rPr lang="en-US" sz="2604">
                  <a:solidFill>
                    <a:srgbClr val="222222"/>
                  </a:solidFill>
                  <a:latin typeface="Poppins"/>
                  <a:ea typeface="Poppins"/>
                  <a:cs typeface="Poppins"/>
                  <a:sym typeface="Poppins"/>
                </a:rPr>
                <a:t>Md Rafiqul Islam Rana 2132344642</a:t>
              </a:r>
            </a:p>
            <a:p>
              <a:pPr algn="l" marL="562354" indent="-281177" lvl="1">
                <a:lnSpc>
                  <a:spcPts val="3880"/>
                </a:lnSpc>
                <a:buFont typeface="Arial"/>
                <a:buChar char="•"/>
              </a:pPr>
              <a:r>
                <a:rPr lang="en-US" sz="2604">
                  <a:solidFill>
                    <a:srgbClr val="222222"/>
                  </a:solidFill>
                  <a:latin typeface="Poppins"/>
                  <a:ea typeface="Poppins"/>
                  <a:cs typeface="Poppins"/>
                  <a:sym typeface="Poppins"/>
                </a:rPr>
                <a:t>Mahmudul Hasan Al-amin 2311019042</a:t>
              </a:r>
            </a:p>
            <a:p>
              <a:pPr algn="l" marL="562354" indent="-281177" lvl="1">
                <a:lnSpc>
                  <a:spcPts val="3880"/>
                </a:lnSpc>
                <a:buFont typeface="Arial"/>
                <a:buChar char="•"/>
              </a:pPr>
              <a:r>
                <a:rPr lang="en-US" sz="2604">
                  <a:solidFill>
                    <a:srgbClr val="222222"/>
                  </a:solidFill>
                  <a:latin typeface="Poppins"/>
                  <a:ea typeface="Poppins"/>
                  <a:cs typeface="Poppins"/>
                  <a:sym typeface="Poppins"/>
                </a:rPr>
                <a:t>Omar Ahammed Sakib 2022006042</a:t>
              </a:r>
            </a:p>
            <a:p>
              <a:pPr algn="l" marL="562354" indent="-281177" lvl="1">
                <a:lnSpc>
                  <a:spcPts val="3880"/>
                </a:lnSpc>
                <a:buFont typeface="Arial"/>
                <a:buChar char="•"/>
              </a:pPr>
              <a:r>
                <a:rPr lang="en-US" sz="2604">
                  <a:solidFill>
                    <a:srgbClr val="222222"/>
                  </a:solidFill>
                  <a:latin typeface="Poppins"/>
                  <a:ea typeface="Poppins"/>
                  <a:cs typeface="Poppins"/>
                  <a:sym typeface="Poppins"/>
                </a:rPr>
                <a:t>Shuvra Saha Rimjim 2222483042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7949"/>
            <a:ext cx="8879780" cy="635840"/>
            <a:chOff x="0" y="0"/>
            <a:chExt cx="1347929" cy="96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7929" cy="96519"/>
            </a:xfrm>
            <a:custGeom>
              <a:avLst/>
              <a:gdLst/>
              <a:ahLst/>
              <a:cxnLst/>
              <a:rect r="r" b="b" t="t" l="l"/>
              <a:pathLst>
                <a:path h="96519" w="1347929">
                  <a:moveTo>
                    <a:pt x="0" y="0"/>
                  </a:moveTo>
                  <a:lnTo>
                    <a:pt x="1347929" y="0"/>
                  </a:lnTo>
                  <a:lnTo>
                    <a:pt x="1347929" y="96519"/>
                  </a:lnTo>
                  <a:lnTo>
                    <a:pt x="0" y="96519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347929" cy="153669"/>
            </a:xfrm>
            <a:prstGeom prst="rect">
              <a:avLst/>
            </a:prstGeom>
          </p:spPr>
          <p:txBody>
            <a:bodyPr anchor="ctr" rtlCol="false" tIns="29957" lIns="29957" bIns="29957" rIns="29957"/>
            <a:lstStyle/>
            <a:p>
              <a:pPr algn="ctr">
                <a:lnSpc>
                  <a:spcPts val="4127"/>
                </a:lnSpc>
              </a:pPr>
              <a:r>
                <a:rPr lang="en-US" b="true" sz="294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Problem Statement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012534"/>
            <a:ext cx="8879780" cy="635839"/>
            <a:chOff x="0" y="0"/>
            <a:chExt cx="1347929" cy="965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7929" cy="96519"/>
            </a:xfrm>
            <a:custGeom>
              <a:avLst/>
              <a:gdLst/>
              <a:ahLst/>
              <a:cxnLst/>
              <a:rect r="r" b="b" t="t" l="l"/>
              <a:pathLst>
                <a:path h="96519" w="1347929">
                  <a:moveTo>
                    <a:pt x="0" y="0"/>
                  </a:moveTo>
                  <a:lnTo>
                    <a:pt x="1347929" y="0"/>
                  </a:lnTo>
                  <a:lnTo>
                    <a:pt x="1347929" y="96519"/>
                  </a:lnTo>
                  <a:lnTo>
                    <a:pt x="0" y="96519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347929" cy="153669"/>
            </a:xfrm>
            <a:prstGeom prst="rect">
              <a:avLst/>
            </a:prstGeom>
          </p:spPr>
          <p:txBody>
            <a:bodyPr anchor="ctr" rtlCol="false" tIns="29957" lIns="29957" bIns="29957" rIns="29957"/>
            <a:lstStyle/>
            <a:p>
              <a:pPr algn="ctr">
                <a:lnSpc>
                  <a:spcPts val="4127"/>
                </a:lnSpc>
              </a:pPr>
              <a:r>
                <a:rPr lang="en-US" b="true" sz="294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Objectives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151117" y="-526326"/>
            <a:ext cx="7108183" cy="7033426"/>
          </a:xfrm>
          <a:custGeom>
            <a:avLst/>
            <a:gdLst/>
            <a:ahLst/>
            <a:cxnLst/>
            <a:rect r="r" b="b" t="t" l="l"/>
            <a:pathLst>
              <a:path h="7033426" w="7108183">
                <a:moveTo>
                  <a:pt x="0" y="0"/>
                </a:moveTo>
                <a:lnTo>
                  <a:pt x="7108183" y="0"/>
                </a:lnTo>
                <a:lnTo>
                  <a:pt x="7108183" y="7033427"/>
                </a:lnTo>
                <a:lnTo>
                  <a:pt x="0" y="70334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912" t="0" r="-52912" b="-1700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911449"/>
            <a:ext cx="8879780" cy="2614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5212" indent="-317606" lvl="1">
              <a:lnSpc>
                <a:spcPts val="5295"/>
              </a:lnSpc>
              <a:buFont typeface="Arial"/>
              <a:buChar char="•"/>
            </a:pPr>
            <a:r>
              <a:rPr lang="en-US" sz="294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Traditional c</a:t>
            </a:r>
            <a:r>
              <a:rPr lang="en-US" sz="294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heckouts cause </a:t>
            </a:r>
            <a:r>
              <a:rPr lang="en-US" b="true" sz="294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long queues</a:t>
            </a:r>
          </a:p>
          <a:p>
            <a:pPr algn="l" marL="635212" indent="-317606" lvl="1">
              <a:lnSpc>
                <a:spcPts val="5295"/>
              </a:lnSpc>
              <a:buFont typeface="Arial"/>
              <a:buChar char="•"/>
            </a:pPr>
            <a:r>
              <a:rPr lang="en-US" sz="294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Manual item scanning is </a:t>
            </a:r>
            <a:r>
              <a:rPr lang="en-US" b="true" sz="294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slow &amp; error-prone</a:t>
            </a:r>
          </a:p>
          <a:p>
            <a:pPr algn="l" marL="635212" indent="-317606" lvl="1">
              <a:lnSpc>
                <a:spcPts val="5295"/>
              </a:lnSpc>
              <a:buFont typeface="Arial"/>
              <a:buChar char="•"/>
            </a:pPr>
            <a:r>
              <a:rPr lang="en-US" sz="294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High staffing </a:t>
            </a:r>
            <a:r>
              <a:rPr lang="en-US" b="true" sz="294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costs</a:t>
            </a:r>
            <a:r>
              <a:rPr lang="en-US" sz="294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for cashier roles</a:t>
            </a:r>
          </a:p>
          <a:p>
            <a:pPr algn="l" marL="635212" indent="-317606" lvl="1">
              <a:lnSpc>
                <a:spcPts val="5295"/>
              </a:lnSpc>
              <a:buFont typeface="Arial"/>
              <a:buChar char="•"/>
            </a:pPr>
            <a:r>
              <a:rPr lang="en-US" b="true" sz="294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Difficult to scale</a:t>
            </a:r>
            <a:r>
              <a:rPr lang="en-US" sz="294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during peak hours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068525"/>
            <a:ext cx="8879780" cy="352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3623" indent="-306811" lvl="1">
              <a:lnSpc>
                <a:spcPts val="3979"/>
              </a:lnSpc>
              <a:buFont typeface="Arial"/>
              <a:buChar char="•"/>
            </a:pPr>
            <a:r>
              <a:rPr lang="en-US" sz="284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Det</a:t>
            </a:r>
            <a:r>
              <a:rPr lang="en-US" sz="284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ect </a:t>
            </a:r>
            <a:r>
              <a:rPr lang="en-US" sz="284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items </a:t>
            </a:r>
            <a:r>
              <a:rPr lang="en-US" sz="284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automatically to reduce checkout time &amp; improve efficiency.</a:t>
            </a:r>
          </a:p>
          <a:p>
            <a:pPr algn="l" marL="613623" indent="-306811" lvl="1">
              <a:lnSpc>
                <a:spcPts val="3979"/>
              </a:lnSpc>
              <a:buFont typeface="Arial"/>
              <a:buChar char="•"/>
            </a:pPr>
            <a:r>
              <a:rPr lang="en-US" sz="284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Tracks items with IDs to reduce double-billing issues.</a:t>
            </a:r>
          </a:p>
          <a:p>
            <a:pPr algn="l" marL="613623" indent="-306811" lvl="1">
              <a:lnSpc>
                <a:spcPts val="3979"/>
              </a:lnSpc>
              <a:buFont typeface="Arial"/>
              <a:buChar char="•"/>
            </a:pPr>
            <a:r>
              <a:rPr lang="en-US" sz="284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Show live receipt overlay on video feed</a:t>
            </a:r>
          </a:p>
          <a:p>
            <a:pPr algn="l" marL="613623" indent="-306811" lvl="1">
              <a:lnSpc>
                <a:spcPts val="3979"/>
              </a:lnSpc>
              <a:buFont typeface="Arial"/>
              <a:buChar char="•"/>
            </a:pPr>
            <a:r>
              <a:rPr lang="en-US" sz="284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Should be able to process any standard video source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296393" y="8811388"/>
            <a:ext cx="2991607" cy="147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6"/>
              </a:lnSpc>
            </a:pPr>
            <a:r>
              <a:rPr lang="en-US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Group: 4</a:t>
            </a:r>
          </a:p>
          <a:p>
            <a:pPr algn="ctr">
              <a:lnSpc>
                <a:spcPts val="2346"/>
              </a:lnSpc>
            </a:pPr>
            <a:r>
              <a:rPr lang="en-US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Mahmudul Hasan Al Amin</a:t>
            </a:r>
          </a:p>
          <a:p>
            <a:pPr algn="ctr">
              <a:lnSpc>
                <a:spcPts val="2346"/>
              </a:lnSpc>
            </a:pPr>
            <a:r>
              <a:rPr lang="en-US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Md Rafiqul Islam Rana</a:t>
            </a:r>
          </a:p>
          <a:p>
            <a:pPr algn="ctr">
              <a:lnSpc>
                <a:spcPts val="2346"/>
              </a:lnSpc>
            </a:pPr>
            <a:r>
              <a:rPr lang="en-US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Omar Ahammed Sakib</a:t>
            </a:r>
          </a:p>
          <a:p>
            <a:pPr algn="ctr">
              <a:lnSpc>
                <a:spcPts val="2346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Shuvra Saha Rimjim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170920" y="4251531"/>
            <a:ext cx="8737624" cy="8737624"/>
            <a:chOff x="0" y="0"/>
            <a:chExt cx="11650166" cy="1165016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280823" y="280823"/>
              <a:ext cx="11088520" cy="11088520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33333">
                    <a:srgbClr val="000000">
                      <a:alpha val="40500"/>
                    </a:srgbClr>
                  </a:gs>
                  <a:gs pos="66667">
                    <a:srgbClr val="000000">
                      <a:alpha val="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circle">
                  <a:fillToRect l="50000" r="50000" t="50000" b="50000"/>
                </a:path>
              </a:gra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2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-6238028">
              <a:off x="1018114" y="1018114"/>
              <a:ext cx="9613937" cy="9613937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DFDFD">
                      <a:alpha val="100000"/>
                    </a:srgbClr>
                  </a:gs>
                  <a:gs pos="100000">
                    <a:srgbClr val="E4E4E4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0">
            <a:off x="13693913" y="-4368812"/>
            <a:ext cx="8737624" cy="8737624"/>
            <a:chOff x="0" y="0"/>
            <a:chExt cx="11650166" cy="11650166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280823" y="280823"/>
              <a:ext cx="11088520" cy="11088520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33333">
                    <a:srgbClr val="000000">
                      <a:alpha val="40500"/>
                    </a:srgbClr>
                  </a:gs>
                  <a:gs pos="66667">
                    <a:srgbClr val="000000">
                      <a:alpha val="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circle">
                  <a:fillToRect l="50000" r="50000" t="50000" b="50000"/>
                </a:path>
              </a:gra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2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-6238028">
              <a:off x="1018114" y="1018114"/>
              <a:ext cx="9613937" cy="9613937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DFDFD">
                      <a:alpha val="100000"/>
                    </a:srgbClr>
                  </a:gs>
                  <a:gs pos="100000">
                    <a:srgbClr val="E4E4E4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sp>
        <p:nvSpPr>
          <p:cNvPr name="TextBox 17" id="17"/>
          <p:cNvSpPr txBox="true"/>
          <p:nvPr/>
        </p:nvSpPr>
        <p:spPr>
          <a:xfrm rot="0">
            <a:off x="9139238" y="4274503"/>
            <a:ext cx="95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3968073" y="1028700"/>
            <a:ext cx="9725840" cy="771294"/>
            <a:chOff x="0" y="0"/>
            <a:chExt cx="1476359" cy="1170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76359" cy="117081"/>
            </a:xfrm>
            <a:custGeom>
              <a:avLst/>
              <a:gdLst/>
              <a:ahLst/>
              <a:cxnLst/>
              <a:rect r="r" b="b" t="t" l="l"/>
              <a:pathLst>
                <a:path h="117081" w="1476359">
                  <a:moveTo>
                    <a:pt x="0" y="0"/>
                  </a:moveTo>
                  <a:lnTo>
                    <a:pt x="1476359" y="0"/>
                  </a:lnTo>
                  <a:lnTo>
                    <a:pt x="1476359" y="117081"/>
                  </a:lnTo>
                  <a:lnTo>
                    <a:pt x="0" y="117081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476359" cy="174231"/>
            </a:xfrm>
            <a:prstGeom prst="rect">
              <a:avLst/>
            </a:prstGeom>
          </p:spPr>
          <p:txBody>
            <a:bodyPr anchor="ctr" rtlCol="false" tIns="29957" lIns="29957" bIns="29957" rIns="29957"/>
            <a:lstStyle/>
            <a:p>
              <a:pPr algn="ctr">
                <a:lnSpc>
                  <a:spcPts val="4127"/>
                </a:lnSpc>
              </a:pPr>
              <a:r>
                <a:rPr lang="en-US" sz="2948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YouTube Demo Video :</a:t>
              </a:r>
            </a:p>
          </p:txBody>
        </p:sp>
      </p:grpSp>
      <p:pic>
        <p:nvPicPr>
          <p:cNvPr name="Picture 21" id="21"/>
          <p:cNvPicPr>
            <a:picLocks noChangeAspect="true"/>
          </p:cNvPicPr>
          <p:nvPr>
            <a:videoFile r:link="rId4"/>
          </p:nvPr>
        </p:nvPicPr>
        <p:blipFill>
          <a:blip r:embed="rId3"/>
          <a:stretch>
            <a:fillRect/>
          </a:stretch>
        </p:blipFill>
        <p:spPr>
          <a:xfrm rot="0">
            <a:off x="1606379" y="1923798"/>
            <a:ext cx="12981516" cy="7296402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5497532" y="8792337"/>
            <a:ext cx="2790468" cy="1494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6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Group: 4</a:t>
            </a:r>
          </a:p>
          <a:p>
            <a:pPr algn="ctr">
              <a:lnSpc>
                <a:spcPts val="2346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Mahmudul Hasan Al Amin</a:t>
            </a:r>
          </a:p>
          <a:p>
            <a:pPr algn="ctr">
              <a:lnSpc>
                <a:spcPts val="2346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Md Rafiqul Islam Rana</a:t>
            </a:r>
          </a:p>
          <a:p>
            <a:pPr algn="ctr">
              <a:lnSpc>
                <a:spcPts val="2346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Omar Ahammed Sakib</a:t>
            </a:r>
          </a:p>
          <a:p>
            <a:pPr algn="ctr">
              <a:lnSpc>
                <a:spcPts val="2346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Shuvra Saha Rimjim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6300"/>
            <a:ext cx="10572969" cy="803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7"/>
              </a:lnSpc>
              <a:spcBef>
                <a:spcPct val="0"/>
              </a:spcBef>
            </a:pPr>
            <a:r>
              <a:rPr lang="en-US" b="true" sz="4300" strike="noStrike" u="none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ARCHITECTURE/PIPELINE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83048" y="2178787"/>
            <a:ext cx="4310497" cy="2940711"/>
            <a:chOff x="0" y="0"/>
            <a:chExt cx="5747329" cy="392094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430063" y="582579"/>
              <a:ext cx="5317266" cy="3338369"/>
              <a:chOff x="0" y="0"/>
              <a:chExt cx="1161678" cy="72934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161679" cy="729343"/>
              </a:xfrm>
              <a:custGeom>
                <a:avLst/>
                <a:gdLst/>
                <a:ahLst/>
                <a:cxnLst/>
                <a:rect r="r" b="b" t="t" l="l"/>
                <a:pathLst>
                  <a:path h="729343" w="1161679">
                    <a:moveTo>
                      <a:pt x="26329" y="0"/>
                    </a:moveTo>
                    <a:lnTo>
                      <a:pt x="1135350" y="0"/>
                    </a:lnTo>
                    <a:cubicBezTo>
                      <a:pt x="1149891" y="0"/>
                      <a:pt x="1161679" y="11788"/>
                      <a:pt x="1161679" y="26329"/>
                    </a:cubicBezTo>
                    <a:lnTo>
                      <a:pt x="1161679" y="703015"/>
                    </a:lnTo>
                    <a:cubicBezTo>
                      <a:pt x="1161679" y="709997"/>
                      <a:pt x="1158905" y="716694"/>
                      <a:pt x="1153967" y="721632"/>
                    </a:cubicBezTo>
                    <a:cubicBezTo>
                      <a:pt x="1149029" y="726569"/>
                      <a:pt x="1142333" y="729343"/>
                      <a:pt x="1135350" y="729343"/>
                    </a:cubicBezTo>
                    <a:lnTo>
                      <a:pt x="26329" y="729343"/>
                    </a:lnTo>
                    <a:cubicBezTo>
                      <a:pt x="11788" y="729343"/>
                      <a:pt x="0" y="717555"/>
                      <a:pt x="0" y="703015"/>
                    </a:cubicBezTo>
                    <a:lnTo>
                      <a:pt x="0" y="26329"/>
                    </a:lnTo>
                    <a:cubicBezTo>
                      <a:pt x="0" y="11788"/>
                      <a:pt x="11788" y="0"/>
                      <a:pt x="26329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w="85725" cap="sq">
                <a:solidFill>
                  <a:srgbClr val="00167A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76200"/>
                <a:ext cx="1161678" cy="8055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40"/>
                  </a:lnSpc>
                </a:pPr>
                <a:r>
                  <a:rPr lang="en-US" sz="300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Video Input</a:t>
                </a:r>
              </a:p>
              <a:p>
                <a:pPr algn="ctr">
                  <a:lnSpc>
                    <a:spcPts val="4140"/>
                  </a:lnSpc>
                </a:pPr>
              </a:p>
              <a:p>
                <a:pPr algn="ctr">
                  <a:lnSpc>
                    <a:spcPts val="276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Load frames from </a:t>
                </a:r>
              </a:p>
              <a:p>
                <a:pPr algn="ctr">
                  <a:lnSpc>
                    <a:spcPts val="276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video file</a:t>
                </a: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1165158" cy="1165158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41F6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4"/>
                  </a:lnSpc>
                </a:pPr>
                <a:r>
                  <a:rPr lang="en-US" b="true" sz="2379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1</a:t>
                </a: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0">
            <a:off x="6165196" y="2178787"/>
            <a:ext cx="4310497" cy="2940711"/>
            <a:chOff x="0" y="0"/>
            <a:chExt cx="5747329" cy="392094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430063" y="582579"/>
              <a:ext cx="5317266" cy="3338369"/>
              <a:chOff x="0" y="0"/>
              <a:chExt cx="1161678" cy="72934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161679" cy="729343"/>
              </a:xfrm>
              <a:custGeom>
                <a:avLst/>
                <a:gdLst/>
                <a:ahLst/>
                <a:cxnLst/>
                <a:rect r="r" b="b" t="t" l="l"/>
                <a:pathLst>
                  <a:path h="729343" w="1161679">
                    <a:moveTo>
                      <a:pt x="26329" y="0"/>
                    </a:moveTo>
                    <a:lnTo>
                      <a:pt x="1135350" y="0"/>
                    </a:lnTo>
                    <a:cubicBezTo>
                      <a:pt x="1149891" y="0"/>
                      <a:pt x="1161679" y="11788"/>
                      <a:pt x="1161679" y="26329"/>
                    </a:cubicBezTo>
                    <a:lnTo>
                      <a:pt x="1161679" y="703015"/>
                    </a:lnTo>
                    <a:cubicBezTo>
                      <a:pt x="1161679" y="709997"/>
                      <a:pt x="1158905" y="716694"/>
                      <a:pt x="1153967" y="721632"/>
                    </a:cubicBezTo>
                    <a:cubicBezTo>
                      <a:pt x="1149029" y="726569"/>
                      <a:pt x="1142333" y="729343"/>
                      <a:pt x="1135350" y="729343"/>
                    </a:cubicBezTo>
                    <a:lnTo>
                      <a:pt x="26329" y="729343"/>
                    </a:lnTo>
                    <a:cubicBezTo>
                      <a:pt x="11788" y="729343"/>
                      <a:pt x="0" y="717555"/>
                      <a:pt x="0" y="703015"/>
                    </a:cubicBezTo>
                    <a:lnTo>
                      <a:pt x="0" y="26329"/>
                    </a:lnTo>
                    <a:cubicBezTo>
                      <a:pt x="0" y="11788"/>
                      <a:pt x="11788" y="0"/>
                      <a:pt x="26329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w="85725" cap="sq">
                <a:solidFill>
                  <a:srgbClr val="00167A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76200"/>
                <a:ext cx="1161678" cy="8055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40"/>
                  </a:lnSpc>
                </a:pPr>
                <a:r>
                  <a:rPr lang="en-US" sz="300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Yolov10x</a:t>
                </a:r>
              </a:p>
              <a:p>
                <a:pPr algn="ctr">
                  <a:lnSpc>
                    <a:spcPts val="4140"/>
                  </a:lnSpc>
                </a:pPr>
              </a:p>
              <a:p>
                <a:pPr algn="ctr">
                  <a:lnSpc>
                    <a:spcPts val="276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Detects objects </a:t>
                </a:r>
              </a:p>
              <a:p>
                <a:pPr algn="ctr">
                  <a:lnSpc>
                    <a:spcPts val="276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with conf &gt;= .4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0"/>
              <a:ext cx="1165158" cy="1165158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41F60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4"/>
                  </a:lnSpc>
                </a:pPr>
                <a:r>
                  <a:rPr lang="en-US" b="true" sz="2379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2</a:t>
                </a: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11347344" y="2178787"/>
            <a:ext cx="4310497" cy="2940711"/>
            <a:chOff x="0" y="0"/>
            <a:chExt cx="5747329" cy="392094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430063" y="582579"/>
              <a:ext cx="5317266" cy="3338369"/>
              <a:chOff x="0" y="0"/>
              <a:chExt cx="1161678" cy="72934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161679" cy="729343"/>
              </a:xfrm>
              <a:custGeom>
                <a:avLst/>
                <a:gdLst/>
                <a:ahLst/>
                <a:cxnLst/>
                <a:rect r="r" b="b" t="t" l="l"/>
                <a:pathLst>
                  <a:path h="729343" w="1161679">
                    <a:moveTo>
                      <a:pt x="26329" y="0"/>
                    </a:moveTo>
                    <a:lnTo>
                      <a:pt x="1135350" y="0"/>
                    </a:lnTo>
                    <a:cubicBezTo>
                      <a:pt x="1149891" y="0"/>
                      <a:pt x="1161679" y="11788"/>
                      <a:pt x="1161679" y="26329"/>
                    </a:cubicBezTo>
                    <a:lnTo>
                      <a:pt x="1161679" y="703015"/>
                    </a:lnTo>
                    <a:cubicBezTo>
                      <a:pt x="1161679" y="709997"/>
                      <a:pt x="1158905" y="716694"/>
                      <a:pt x="1153967" y="721632"/>
                    </a:cubicBezTo>
                    <a:cubicBezTo>
                      <a:pt x="1149029" y="726569"/>
                      <a:pt x="1142333" y="729343"/>
                      <a:pt x="1135350" y="729343"/>
                    </a:cubicBezTo>
                    <a:lnTo>
                      <a:pt x="26329" y="729343"/>
                    </a:lnTo>
                    <a:cubicBezTo>
                      <a:pt x="11788" y="729343"/>
                      <a:pt x="0" y="717555"/>
                      <a:pt x="0" y="703015"/>
                    </a:cubicBezTo>
                    <a:lnTo>
                      <a:pt x="0" y="26329"/>
                    </a:lnTo>
                    <a:cubicBezTo>
                      <a:pt x="0" y="11788"/>
                      <a:pt x="11788" y="0"/>
                      <a:pt x="26329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w="85725" cap="sq">
                <a:solidFill>
                  <a:srgbClr val="00167A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76200"/>
                <a:ext cx="1161678" cy="8055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40"/>
                  </a:lnSpc>
                </a:pPr>
                <a:r>
                  <a:rPr lang="en-US" sz="300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Class filtering</a:t>
                </a:r>
              </a:p>
              <a:p>
                <a:pPr algn="ctr">
                  <a:lnSpc>
                    <a:spcPts val="4140"/>
                  </a:lnSpc>
                </a:pPr>
              </a:p>
              <a:p>
                <a:pPr algn="ctr">
                  <a:lnSpc>
                    <a:spcPts val="276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Keeps only the necessary</a:t>
                </a:r>
              </a:p>
              <a:p>
                <a:pPr algn="ctr">
                  <a:lnSpc>
                    <a:spcPts val="276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retail classes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0"/>
              <a:ext cx="1165158" cy="1165158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41F6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4"/>
                  </a:lnSpc>
                </a:pPr>
                <a:r>
                  <a:rPr lang="en-US" b="true" sz="2379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3</a:t>
                </a: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0">
            <a:off x="983048" y="5638972"/>
            <a:ext cx="4310497" cy="2940711"/>
            <a:chOff x="0" y="0"/>
            <a:chExt cx="5747329" cy="3920948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430063" y="582579"/>
              <a:ext cx="5317266" cy="3338369"/>
              <a:chOff x="0" y="0"/>
              <a:chExt cx="1161678" cy="72934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161679" cy="729343"/>
              </a:xfrm>
              <a:custGeom>
                <a:avLst/>
                <a:gdLst/>
                <a:ahLst/>
                <a:cxnLst/>
                <a:rect r="r" b="b" t="t" l="l"/>
                <a:pathLst>
                  <a:path h="729343" w="1161679">
                    <a:moveTo>
                      <a:pt x="26329" y="0"/>
                    </a:moveTo>
                    <a:lnTo>
                      <a:pt x="1135350" y="0"/>
                    </a:lnTo>
                    <a:cubicBezTo>
                      <a:pt x="1149891" y="0"/>
                      <a:pt x="1161679" y="11788"/>
                      <a:pt x="1161679" y="26329"/>
                    </a:cubicBezTo>
                    <a:lnTo>
                      <a:pt x="1161679" y="703015"/>
                    </a:lnTo>
                    <a:cubicBezTo>
                      <a:pt x="1161679" y="709997"/>
                      <a:pt x="1158905" y="716694"/>
                      <a:pt x="1153967" y="721632"/>
                    </a:cubicBezTo>
                    <a:cubicBezTo>
                      <a:pt x="1149029" y="726569"/>
                      <a:pt x="1142333" y="729343"/>
                      <a:pt x="1135350" y="729343"/>
                    </a:cubicBezTo>
                    <a:lnTo>
                      <a:pt x="26329" y="729343"/>
                    </a:lnTo>
                    <a:cubicBezTo>
                      <a:pt x="11788" y="729343"/>
                      <a:pt x="0" y="717555"/>
                      <a:pt x="0" y="703015"/>
                    </a:cubicBezTo>
                    <a:lnTo>
                      <a:pt x="0" y="26329"/>
                    </a:lnTo>
                    <a:cubicBezTo>
                      <a:pt x="0" y="11788"/>
                      <a:pt x="11788" y="0"/>
                      <a:pt x="26329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w="85725" cap="sq">
                <a:solidFill>
                  <a:srgbClr val="00167A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76200"/>
                <a:ext cx="1161678" cy="8055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40"/>
                  </a:lnSpc>
                </a:pPr>
                <a:r>
                  <a:rPr lang="en-US" sz="300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DeepSort</a:t>
                </a:r>
              </a:p>
              <a:p>
                <a:pPr algn="ctr">
                  <a:lnSpc>
                    <a:spcPts val="4140"/>
                  </a:lnSpc>
                </a:pPr>
              </a:p>
              <a:p>
                <a:pPr algn="ctr">
                  <a:lnSpc>
                    <a:spcPts val="276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Assigns persistant tractID</a:t>
                </a:r>
              </a:p>
              <a:p>
                <a:pPr algn="ctr">
                  <a:lnSpc>
                    <a:spcPts val="276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to each unique items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0"/>
              <a:ext cx="1165158" cy="1165158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41F60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4"/>
                  </a:lnSpc>
                </a:pPr>
                <a:r>
                  <a:rPr lang="en-US" b="true" sz="2379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4</a:t>
                </a:r>
              </a:p>
            </p:txBody>
          </p:sp>
        </p:grpSp>
      </p:grpSp>
      <p:grpSp>
        <p:nvGrpSpPr>
          <p:cNvPr name="Group 31" id="31"/>
          <p:cNvGrpSpPr/>
          <p:nvPr/>
        </p:nvGrpSpPr>
        <p:grpSpPr>
          <a:xfrm rot="0">
            <a:off x="6165196" y="5638972"/>
            <a:ext cx="4310497" cy="2940711"/>
            <a:chOff x="0" y="0"/>
            <a:chExt cx="5747329" cy="3920948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430063" y="582579"/>
              <a:ext cx="5317266" cy="3338369"/>
              <a:chOff x="0" y="0"/>
              <a:chExt cx="1161678" cy="729343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161679" cy="729343"/>
              </a:xfrm>
              <a:custGeom>
                <a:avLst/>
                <a:gdLst/>
                <a:ahLst/>
                <a:cxnLst/>
                <a:rect r="r" b="b" t="t" l="l"/>
                <a:pathLst>
                  <a:path h="729343" w="1161679">
                    <a:moveTo>
                      <a:pt x="26329" y="0"/>
                    </a:moveTo>
                    <a:lnTo>
                      <a:pt x="1135350" y="0"/>
                    </a:lnTo>
                    <a:cubicBezTo>
                      <a:pt x="1149891" y="0"/>
                      <a:pt x="1161679" y="11788"/>
                      <a:pt x="1161679" y="26329"/>
                    </a:cubicBezTo>
                    <a:lnTo>
                      <a:pt x="1161679" y="703015"/>
                    </a:lnTo>
                    <a:cubicBezTo>
                      <a:pt x="1161679" y="709997"/>
                      <a:pt x="1158905" y="716694"/>
                      <a:pt x="1153967" y="721632"/>
                    </a:cubicBezTo>
                    <a:cubicBezTo>
                      <a:pt x="1149029" y="726569"/>
                      <a:pt x="1142333" y="729343"/>
                      <a:pt x="1135350" y="729343"/>
                    </a:cubicBezTo>
                    <a:lnTo>
                      <a:pt x="26329" y="729343"/>
                    </a:lnTo>
                    <a:cubicBezTo>
                      <a:pt x="11788" y="729343"/>
                      <a:pt x="0" y="717555"/>
                      <a:pt x="0" y="703015"/>
                    </a:cubicBezTo>
                    <a:lnTo>
                      <a:pt x="0" y="26329"/>
                    </a:lnTo>
                    <a:cubicBezTo>
                      <a:pt x="0" y="11788"/>
                      <a:pt x="11788" y="0"/>
                      <a:pt x="26329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w="85725" cap="sq">
                <a:solidFill>
                  <a:srgbClr val="00167A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76200"/>
                <a:ext cx="1161678" cy="8055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40"/>
                  </a:lnSpc>
                </a:pPr>
                <a:r>
                  <a:rPr lang="en-US" sz="300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Bill Registry</a:t>
                </a:r>
              </a:p>
              <a:p>
                <a:pPr algn="ctr">
                  <a:lnSpc>
                    <a:spcPts val="4140"/>
                  </a:lnSpc>
                </a:pPr>
              </a:p>
              <a:p>
                <a:pPr algn="ctr">
                  <a:lnSpc>
                    <a:spcPts val="276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Register unique items once</a:t>
                </a:r>
              </a:p>
              <a:p>
                <a:pPr algn="l" marL="431808" indent="-215904" lvl="1">
                  <a:lnSpc>
                    <a:spcPts val="2760"/>
                  </a:lnSpc>
                  <a:buFont typeface="Arial"/>
                  <a:buChar char="•"/>
                </a:pPr>
                <a:r>
                  <a:rPr lang="en-US" b="true" sz="200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reduces duplicate billing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0"/>
              <a:ext cx="1165158" cy="1165158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41F60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4"/>
                  </a:lnSpc>
                </a:pPr>
                <a:r>
                  <a:rPr lang="en-US" b="true" sz="2379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5</a:t>
                </a:r>
              </a:p>
            </p:txBody>
          </p:sp>
        </p:grpSp>
      </p:grpSp>
      <p:grpSp>
        <p:nvGrpSpPr>
          <p:cNvPr name="Group 38" id="38"/>
          <p:cNvGrpSpPr/>
          <p:nvPr/>
        </p:nvGrpSpPr>
        <p:grpSpPr>
          <a:xfrm rot="0">
            <a:off x="11347344" y="5638972"/>
            <a:ext cx="4310497" cy="2940711"/>
            <a:chOff x="0" y="0"/>
            <a:chExt cx="5747329" cy="3920948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430063" y="582579"/>
              <a:ext cx="5317266" cy="3338369"/>
              <a:chOff x="0" y="0"/>
              <a:chExt cx="1161678" cy="729343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161679" cy="729343"/>
              </a:xfrm>
              <a:custGeom>
                <a:avLst/>
                <a:gdLst/>
                <a:ahLst/>
                <a:cxnLst/>
                <a:rect r="r" b="b" t="t" l="l"/>
                <a:pathLst>
                  <a:path h="729343" w="1161679">
                    <a:moveTo>
                      <a:pt x="26329" y="0"/>
                    </a:moveTo>
                    <a:lnTo>
                      <a:pt x="1135350" y="0"/>
                    </a:lnTo>
                    <a:cubicBezTo>
                      <a:pt x="1149891" y="0"/>
                      <a:pt x="1161679" y="11788"/>
                      <a:pt x="1161679" y="26329"/>
                    </a:cubicBezTo>
                    <a:lnTo>
                      <a:pt x="1161679" y="703015"/>
                    </a:lnTo>
                    <a:cubicBezTo>
                      <a:pt x="1161679" y="709997"/>
                      <a:pt x="1158905" y="716694"/>
                      <a:pt x="1153967" y="721632"/>
                    </a:cubicBezTo>
                    <a:cubicBezTo>
                      <a:pt x="1149029" y="726569"/>
                      <a:pt x="1142333" y="729343"/>
                      <a:pt x="1135350" y="729343"/>
                    </a:cubicBezTo>
                    <a:lnTo>
                      <a:pt x="26329" y="729343"/>
                    </a:lnTo>
                    <a:cubicBezTo>
                      <a:pt x="11788" y="729343"/>
                      <a:pt x="0" y="717555"/>
                      <a:pt x="0" y="703015"/>
                    </a:cubicBezTo>
                    <a:lnTo>
                      <a:pt x="0" y="26329"/>
                    </a:lnTo>
                    <a:cubicBezTo>
                      <a:pt x="0" y="11788"/>
                      <a:pt x="11788" y="0"/>
                      <a:pt x="26329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w="85725" cap="sq">
                <a:solidFill>
                  <a:srgbClr val="00167A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76200"/>
                <a:ext cx="1161678" cy="8055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140"/>
                  </a:lnSpc>
                </a:pPr>
                <a:r>
                  <a:rPr lang="en-US" sz="300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Output Render</a:t>
                </a:r>
              </a:p>
              <a:p>
                <a:pPr algn="ctr">
                  <a:lnSpc>
                    <a:spcPts val="4140"/>
                  </a:lnSpc>
                </a:pPr>
              </a:p>
              <a:p>
                <a:pPr algn="ctr">
                  <a:lnSpc>
                    <a:spcPts val="276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Bounding Box + Receipt</a:t>
                </a:r>
              </a:p>
              <a:p>
                <a:pPr algn="ctr">
                  <a:lnSpc>
                    <a:spcPts val="2760"/>
                  </a:lnSpc>
                </a:pPr>
                <a:r>
                  <a:rPr lang="en-US" b="true" sz="2000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Overlay on frame</a:t>
                </a: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0"/>
              <a:ext cx="1165158" cy="1165158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41F60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84"/>
                  </a:lnSpc>
                </a:pPr>
                <a:r>
                  <a:rPr lang="en-US" b="true" sz="2379">
                    <a:solidFill>
                      <a:srgbClr val="FFFFFF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6</a:t>
                </a:r>
              </a:p>
            </p:txBody>
          </p:sp>
        </p:grpSp>
      </p:grpSp>
      <p:sp>
        <p:nvSpPr>
          <p:cNvPr name="Freeform 45" id="45"/>
          <p:cNvSpPr/>
          <p:nvPr/>
        </p:nvSpPr>
        <p:spPr>
          <a:xfrm>
            <a:off x="5901610" y="3884838"/>
            <a:ext cx="608065" cy="0"/>
          </a:xfrm>
          <a:custGeom>
            <a:avLst/>
            <a:gdLst/>
            <a:ahLst/>
            <a:cxnLst/>
            <a:rect r="r" b="b" t="t" l="l"/>
            <a:pathLst>
              <a:path h="0" w="608065">
                <a:moveTo>
                  <a:pt x="0" y="0"/>
                </a:moveTo>
                <a:lnTo>
                  <a:pt x="608065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46" id="46"/>
          <p:cNvSpPr/>
          <p:nvPr/>
        </p:nvSpPr>
        <p:spPr>
          <a:xfrm>
            <a:off x="11072648" y="3884838"/>
            <a:ext cx="596955" cy="0"/>
          </a:xfrm>
          <a:custGeom>
            <a:avLst/>
            <a:gdLst/>
            <a:ahLst/>
            <a:cxnLst/>
            <a:rect r="r" b="b" t="t" l="l"/>
            <a:pathLst>
              <a:path h="0" w="596955">
                <a:moveTo>
                  <a:pt x="0" y="0"/>
                </a:moveTo>
                <a:lnTo>
                  <a:pt x="596955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47" id="47"/>
          <p:cNvSpPr/>
          <p:nvPr/>
        </p:nvSpPr>
        <p:spPr>
          <a:xfrm>
            <a:off x="983048" y="3884838"/>
            <a:ext cx="14674793" cy="3224489"/>
          </a:xfrm>
          <a:custGeom>
            <a:avLst/>
            <a:gdLst/>
            <a:ahLst/>
            <a:cxnLst/>
            <a:rect r="r" b="b" t="t" l="l"/>
            <a:pathLst>
              <a:path h="3224489" w="14674793">
                <a:moveTo>
                  <a:pt x="14674793" y="0"/>
                </a:moveTo>
                <a:lnTo>
                  <a:pt x="7546947" y="0"/>
                </a:lnTo>
                <a:cubicBezTo>
                  <a:pt x="7431216" y="0"/>
                  <a:pt x="7337397" y="93819"/>
                  <a:pt x="7337397" y="209550"/>
                </a:cubicBezTo>
                <a:lnTo>
                  <a:pt x="7337397" y="3014939"/>
                </a:lnTo>
                <a:cubicBezTo>
                  <a:pt x="7337397" y="3130670"/>
                  <a:pt x="7243578" y="3224489"/>
                  <a:pt x="7127847" y="3224489"/>
                </a:cubicBezTo>
                <a:lnTo>
                  <a:pt x="0" y="3224489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48" id="48"/>
          <p:cNvSpPr/>
          <p:nvPr/>
        </p:nvSpPr>
        <p:spPr>
          <a:xfrm>
            <a:off x="5901610" y="7281567"/>
            <a:ext cx="608065" cy="0"/>
          </a:xfrm>
          <a:custGeom>
            <a:avLst/>
            <a:gdLst/>
            <a:ahLst/>
            <a:cxnLst/>
            <a:rect r="r" b="b" t="t" l="l"/>
            <a:pathLst>
              <a:path h="0" w="608065">
                <a:moveTo>
                  <a:pt x="0" y="0"/>
                </a:moveTo>
                <a:lnTo>
                  <a:pt x="608065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49" id="49"/>
          <p:cNvSpPr/>
          <p:nvPr/>
        </p:nvSpPr>
        <p:spPr>
          <a:xfrm>
            <a:off x="11061538" y="7264343"/>
            <a:ext cx="608065" cy="0"/>
          </a:xfrm>
          <a:custGeom>
            <a:avLst/>
            <a:gdLst/>
            <a:ahLst/>
            <a:cxnLst/>
            <a:rect r="r" b="b" t="t" l="l"/>
            <a:pathLst>
              <a:path h="0" w="608065">
                <a:moveTo>
                  <a:pt x="0" y="0"/>
                </a:moveTo>
                <a:lnTo>
                  <a:pt x="608065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0" id="50"/>
          <p:cNvSpPr txBox="true"/>
          <p:nvPr/>
        </p:nvSpPr>
        <p:spPr>
          <a:xfrm rot="0">
            <a:off x="15169515" y="8654034"/>
            <a:ext cx="3118485" cy="163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1"/>
              </a:lnSpc>
              <a:spcBef>
                <a:spcPct val="0"/>
              </a:spcBef>
            </a:pPr>
            <a:r>
              <a:rPr lang="en-US" sz="189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Group: 4</a:t>
            </a:r>
          </a:p>
          <a:p>
            <a:pPr algn="ctr">
              <a:lnSpc>
                <a:spcPts val="2621"/>
              </a:lnSpc>
              <a:spcBef>
                <a:spcPct val="0"/>
              </a:spcBef>
            </a:pPr>
            <a:r>
              <a:rPr lang="en-US" sz="189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Mahmudul Hasan Al Amin</a:t>
            </a:r>
          </a:p>
          <a:p>
            <a:pPr algn="ctr">
              <a:lnSpc>
                <a:spcPts val="2621"/>
              </a:lnSpc>
              <a:spcBef>
                <a:spcPct val="0"/>
              </a:spcBef>
            </a:pPr>
            <a:r>
              <a:rPr lang="en-US" sz="189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Md Rafiqul Islam Rana</a:t>
            </a:r>
          </a:p>
          <a:p>
            <a:pPr algn="ctr">
              <a:lnSpc>
                <a:spcPts val="2621"/>
              </a:lnSpc>
              <a:spcBef>
                <a:spcPct val="0"/>
              </a:spcBef>
            </a:pPr>
            <a:r>
              <a:rPr lang="en-US" sz="189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Omar Ahammed Sakib</a:t>
            </a:r>
          </a:p>
          <a:p>
            <a:pPr algn="ctr">
              <a:lnSpc>
                <a:spcPts val="2621"/>
              </a:lnSpc>
              <a:spcBef>
                <a:spcPct val="0"/>
              </a:spcBef>
            </a:pPr>
            <a:r>
              <a:rPr lang="en-US" sz="1899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Shuvra Saha Rimjim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5443" y="2662044"/>
            <a:ext cx="4897441" cy="1255205"/>
            <a:chOff x="0" y="0"/>
            <a:chExt cx="1289861" cy="3305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9861" cy="330589"/>
            </a:xfrm>
            <a:custGeom>
              <a:avLst/>
              <a:gdLst/>
              <a:ahLst/>
              <a:cxnLst/>
              <a:rect r="r" b="b" t="t" l="l"/>
              <a:pathLst>
                <a:path h="330589" w="1289861">
                  <a:moveTo>
                    <a:pt x="23712" y="0"/>
                  </a:moveTo>
                  <a:lnTo>
                    <a:pt x="1266149" y="0"/>
                  </a:lnTo>
                  <a:cubicBezTo>
                    <a:pt x="1279245" y="0"/>
                    <a:pt x="1289861" y="10616"/>
                    <a:pt x="1289861" y="23712"/>
                  </a:cubicBezTo>
                  <a:lnTo>
                    <a:pt x="1289861" y="306877"/>
                  </a:lnTo>
                  <a:cubicBezTo>
                    <a:pt x="1289861" y="313166"/>
                    <a:pt x="1287363" y="319197"/>
                    <a:pt x="1282916" y="323644"/>
                  </a:cubicBezTo>
                  <a:cubicBezTo>
                    <a:pt x="1278469" y="328091"/>
                    <a:pt x="1272438" y="330589"/>
                    <a:pt x="1266149" y="330589"/>
                  </a:cubicBezTo>
                  <a:lnTo>
                    <a:pt x="23712" y="330589"/>
                  </a:lnTo>
                  <a:cubicBezTo>
                    <a:pt x="17423" y="330589"/>
                    <a:pt x="11392" y="328091"/>
                    <a:pt x="6945" y="323644"/>
                  </a:cubicBezTo>
                  <a:cubicBezTo>
                    <a:pt x="2498" y="319197"/>
                    <a:pt x="0" y="313166"/>
                    <a:pt x="0" y="306877"/>
                  </a:cubicBezTo>
                  <a:lnTo>
                    <a:pt x="0" y="23712"/>
                  </a:lnTo>
                  <a:cubicBezTo>
                    <a:pt x="0" y="17423"/>
                    <a:pt x="2498" y="11392"/>
                    <a:pt x="6945" y="6945"/>
                  </a:cubicBezTo>
                  <a:cubicBezTo>
                    <a:pt x="11392" y="2498"/>
                    <a:pt x="17423" y="0"/>
                    <a:pt x="23712" y="0"/>
                  </a:cubicBezTo>
                  <a:close/>
                </a:path>
              </a:pathLst>
            </a:custGeom>
            <a:ln w="85725" cap="sq">
              <a:solidFill>
                <a:srgbClr val="00167A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1289861" cy="406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4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n_init = 3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876300"/>
            <a:ext cx="13082659" cy="803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7"/>
              </a:lnSpc>
              <a:spcBef>
                <a:spcPct val="0"/>
              </a:spcBef>
            </a:pPr>
            <a:r>
              <a:rPr lang="en-US" b="true" sz="4300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KE</a:t>
            </a:r>
            <a:r>
              <a:rPr lang="en-US" b="true" sz="4300" strike="noStrike" u="none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Y DESIGN DECISIONS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087771" y="2662044"/>
            <a:ext cx="4635561" cy="1248272"/>
            <a:chOff x="0" y="0"/>
            <a:chExt cx="1220888" cy="3287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0888" cy="328763"/>
            </a:xfrm>
            <a:custGeom>
              <a:avLst/>
              <a:gdLst/>
              <a:ahLst/>
              <a:cxnLst/>
              <a:rect r="r" b="b" t="t" l="l"/>
              <a:pathLst>
                <a:path h="328763" w="1220888">
                  <a:moveTo>
                    <a:pt x="25052" y="0"/>
                  </a:moveTo>
                  <a:lnTo>
                    <a:pt x="1195837" y="0"/>
                  </a:lnTo>
                  <a:cubicBezTo>
                    <a:pt x="1202481" y="0"/>
                    <a:pt x="1208853" y="2639"/>
                    <a:pt x="1213551" y="7337"/>
                  </a:cubicBezTo>
                  <a:cubicBezTo>
                    <a:pt x="1218249" y="12036"/>
                    <a:pt x="1220888" y="18408"/>
                    <a:pt x="1220888" y="25052"/>
                  </a:cubicBezTo>
                  <a:lnTo>
                    <a:pt x="1220888" y="303711"/>
                  </a:lnTo>
                  <a:cubicBezTo>
                    <a:pt x="1220888" y="310355"/>
                    <a:pt x="1218249" y="316727"/>
                    <a:pt x="1213551" y="321425"/>
                  </a:cubicBezTo>
                  <a:cubicBezTo>
                    <a:pt x="1208853" y="326124"/>
                    <a:pt x="1202481" y="328763"/>
                    <a:pt x="1195837" y="328763"/>
                  </a:cubicBezTo>
                  <a:lnTo>
                    <a:pt x="25052" y="328763"/>
                  </a:lnTo>
                  <a:cubicBezTo>
                    <a:pt x="18408" y="328763"/>
                    <a:pt x="12036" y="326124"/>
                    <a:pt x="7337" y="321425"/>
                  </a:cubicBezTo>
                  <a:cubicBezTo>
                    <a:pt x="2639" y="316727"/>
                    <a:pt x="0" y="310355"/>
                    <a:pt x="0" y="303711"/>
                  </a:cubicBezTo>
                  <a:lnTo>
                    <a:pt x="0" y="25052"/>
                  </a:lnTo>
                  <a:cubicBezTo>
                    <a:pt x="0" y="18408"/>
                    <a:pt x="2639" y="12036"/>
                    <a:pt x="7337" y="7337"/>
                  </a:cubicBezTo>
                  <a:cubicBezTo>
                    <a:pt x="12036" y="2639"/>
                    <a:pt x="18408" y="0"/>
                    <a:pt x="25052" y="0"/>
                  </a:cubicBezTo>
                  <a:close/>
                </a:path>
              </a:pathLst>
            </a:custGeom>
            <a:ln w="85725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1220888" cy="404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4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max_age </a:t>
              </a:r>
              <a:r>
                <a:rPr lang="en-US" b="true" sz="3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= 30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701269" y="2675910"/>
            <a:ext cx="4558031" cy="1248272"/>
            <a:chOff x="0" y="0"/>
            <a:chExt cx="1200469" cy="3287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00469" cy="328763"/>
            </a:xfrm>
            <a:custGeom>
              <a:avLst/>
              <a:gdLst/>
              <a:ahLst/>
              <a:cxnLst/>
              <a:rect r="r" b="b" t="t" l="l"/>
              <a:pathLst>
                <a:path h="328763" w="1200469">
                  <a:moveTo>
                    <a:pt x="25478" y="0"/>
                  </a:moveTo>
                  <a:lnTo>
                    <a:pt x="1174991" y="0"/>
                  </a:lnTo>
                  <a:cubicBezTo>
                    <a:pt x="1181748" y="0"/>
                    <a:pt x="1188229" y="2684"/>
                    <a:pt x="1193007" y="7462"/>
                  </a:cubicBezTo>
                  <a:cubicBezTo>
                    <a:pt x="1197785" y="12240"/>
                    <a:pt x="1200469" y="18721"/>
                    <a:pt x="1200469" y="25478"/>
                  </a:cubicBezTo>
                  <a:lnTo>
                    <a:pt x="1200469" y="303285"/>
                  </a:lnTo>
                  <a:cubicBezTo>
                    <a:pt x="1200469" y="310042"/>
                    <a:pt x="1197785" y="316523"/>
                    <a:pt x="1193007" y="321301"/>
                  </a:cubicBezTo>
                  <a:cubicBezTo>
                    <a:pt x="1188229" y="326079"/>
                    <a:pt x="1181748" y="328763"/>
                    <a:pt x="1174991" y="328763"/>
                  </a:cubicBezTo>
                  <a:lnTo>
                    <a:pt x="25478" y="328763"/>
                  </a:lnTo>
                  <a:cubicBezTo>
                    <a:pt x="18721" y="328763"/>
                    <a:pt x="12240" y="326079"/>
                    <a:pt x="7462" y="321301"/>
                  </a:cubicBezTo>
                  <a:cubicBezTo>
                    <a:pt x="2684" y="316523"/>
                    <a:pt x="0" y="310042"/>
                    <a:pt x="0" y="303285"/>
                  </a:cubicBezTo>
                  <a:lnTo>
                    <a:pt x="0" y="25478"/>
                  </a:lnTo>
                  <a:cubicBezTo>
                    <a:pt x="0" y="18721"/>
                    <a:pt x="2684" y="12240"/>
                    <a:pt x="7462" y="7462"/>
                  </a:cubicBezTo>
                  <a:cubicBezTo>
                    <a:pt x="12240" y="2684"/>
                    <a:pt x="18721" y="0"/>
                    <a:pt x="25478" y="0"/>
                  </a:cubicBezTo>
                  <a:close/>
                </a:path>
              </a:pathLst>
            </a:custGeom>
            <a:ln w="85725" cap="sq">
              <a:solidFill>
                <a:srgbClr val="FF2828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200469" cy="404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4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Thread-safe BillState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2178787"/>
            <a:ext cx="966515" cy="96651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1F6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4"/>
                </a:lnSpc>
              </a:pPr>
              <a:r>
                <a:rPr lang="en-US" b="true" sz="237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777565" y="2178787"/>
            <a:ext cx="966515" cy="96651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1F6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4"/>
                </a:lnSpc>
              </a:pPr>
              <a:r>
                <a:rPr lang="en-US" b="true" sz="237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218012" y="2185719"/>
            <a:ext cx="966515" cy="966515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1F6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4"/>
                </a:lnSpc>
              </a:pPr>
              <a:r>
                <a:rPr lang="en-US" b="true" sz="237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sp>
        <p:nvSpPr>
          <p:cNvPr name="Freeform 21" id="21"/>
          <p:cNvSpPr/>
          <p:nvPr/>
        </p:nvSpPr>
        <p:spPr>
          <a:xfrm>
            <a:off x="3834164" y="3917249"/>
            <a:ext cx="2091977" cy="1494738"/>
          </a:xfrm>
          <a:custGeom>
            <a:avLst/>
            <a:gdLst/>
            <a:ahLst/>
            <a:cxnLst/>
            <a:rect r="r" b="b" t="t" l="l"/>
            <a:pathLst>
              <a:path h="1494738" w="2091977">
                <a:moveTo>
                  <a:pt x="0" y="0"/>
                </a:moveTo>
                <a:lnTo>
                  <a:pt x="817389" y="0"/>
                </a:lnTo>
                <a:cubicBezTo>
                  <a:pt x="943641" y="0"/>
                  <a:pt x="1045989" y="102348"/>
                  <a:pt x="1045989" y="228600"/>
                </a:cubicBezTo>
                <a:lnTo>
                  <a:pt x="1045989" y="1266138"/>
                </a:lnTo>
                <a:cubicBezTo>
                  <a:pt x="1045989" y="1326766"/>
                  <a:pt x="1070073" y="1384911"/>
                  <a:pt x="1112944" y="1427782"/>
                </a:cubicBezTo>
                <a:cubicBezTo>
                  <a:pt x="1155815" y="1470653"/>
                  <a:pt x="1213960" y="1494738"/>
                  <a:pt x="1274589" y="1494738"/>
                </a:cubicBezTo>
                <a:lnTo>
                  <a:pt x="2091977" y="1494738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2" id="22"/>
          <p:cNvSpPr txBox="true"/>
          <p:nvPr/>
        </p:nvSpPr>
        <p:spPr>
          <a:xfrm rot="0">
            <a:off x="5926141" y="4800482"/>
            <a:ext cx="10042506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Obje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ct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st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appear in 3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co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secut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iv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fr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es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before billing — r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du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ces 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se po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si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iv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05825" y="6309242"/>
            <a:ext cx="10042506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Track kep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 alive for 30 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fr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me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after disappearing — prevents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re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-bil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lin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g the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same 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it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805825" y="7818002"/>
            <a:ext cx="10162822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470"/>
              </a:lnSpc>
              <a:buFont typeface="Arial"/>
              <a:buChar char="•"/>
            </a:pP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Lock-protected registry ensures no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 r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ace condi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tions in con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current fr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am</a:t>
            </a:r>
            <a:r>
              <a:rPr lang="en-US" sz="30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 processing</a:t>
            </a:r>
          </a:p>
        </p:txBody>
      </p:sp>
      <p:sp>
        <p:nvSpPr>
          <p:cNvPr name="Freeform 25" id="25"/>
          <p:cNvSpPr/>
          <p:nvPr/>
        </p:nvSpPr>
        <p:spPr>
          <a:xfrm>
            <a:off x="4155006" y="3910316"/>
            <a:ext cx="5250545" cy="3010431"/>
          </a:xfrm>
          <a:custGeom>
            <a:avLst/>
            <a:gdLst/>
            <a:ahLst/>
            <a:cxnLst/>
            <a:rect r="r" b="b" t="t" l="l"/>
            <a:pathLst>
              <a:path h="3010431" w="5250545">
                <a:moveTo>
                  <a:pt x="5250545" y="0"/>
                </a:moveTo>
                <a:lnTo>
                  <a:pt x="5250545" y="114300"/>
                </a:lnTo>
                <a:cubicBezTo>
                  <a:pt x="5250545" y="177426"/>
                  <a:pt x="5199372" y="228600"/>
                  <a:pt x="5136245" y="228600"/>
                </a:cubicBezTo>
                <a:lnTo>
                  <a:pt x="228600" y="228600"/>
                </a:lnTo>
                <a:cubicBezTo>
                  <a:pt x="102348" y="228600"/>
                  <a:pt x="0" y="330948"/>
                  <a:pt x="0" y="457200"/>
                </a:cubicBezTo>
                <a:lnTo>
                  <a:pt x="0" y="2781831"/>
                </a:lnTo>
                <a:cubicBezTo>
                  <a:pt x="0" y="2842459"/>
                  <a:pt x="24085" y="2900605"/>
                  <a:pt x="66955" y="2943475"/>
                </a:cubicBezTo>
                <a:cubicBezTo>
                  <a:pt x="109826" y="2986346"/>
                  <a:pt x="167972" y="3010431"/>
                  <a:pt x="228600" y="3010431"/>
                </a:cubicBezTo>
                <a:lnTo>
                  <a:pt x="1650819" y="3010431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6" id="26"/>
          <p:cNvSpPr/>
          <p:nvPr/>
        </p:nvSpPr>
        <p:spPr>
          <a:xfrm>
            <a:off x="14980284" y="3924181"/>
            <a:ext cx="1463842" cy="4505325"/>
          </a:xfrm>
          <a:custGeom>
            <a:avLst/>
            <a:gdLst/>
            <a:ahLst/>
            <a:cxnLst/>
            <a:rect r="r" b="b" t="t" l="l"/>
            <a:pathLst>
              <a:path h="4505325" w="1463842">
                <a:moveTo>
                  <a:pt x="0" y="0"/>
                </a:moveTo>
                <a:lnTo>
                  <a:pt x="0" y="114300"/>
                </a:lnTo>
                <a:cubicBezTo>
                  <a:pt x="0" y="144615"/>
                  <a:pt x="12043" y="173687"/>
                  <a:pt x="33477" y="195123"/>
                </a:cubicBezTo>
                <a:cubicBezTo>
                  <a:pt x="54913" y="216558"/>
                  <a:pt x="83986" y="228600"/>
                  <a:pt x="114300" y="228600"/>
                </a:cubicBezTo>
                <a:lnTo>
                  <a:pt x="1235243" y="228600"/>
                </a:lnTo>
                <a:cubicBezTo>
                  <a:pt x="1361495" y="228600"/>
                  <a:pt x="1463843" y="330948"/>
                  <a:pt x="1463843" y="457200"/>
                </a:cubicBezTo>
                <a:lnTo>
                  <a:pt x="1463843" y="4276725"/>
                </a:lnTo>
                <a:cubicBezTo>
                  <a:pt x="1463843" y="4337354"/>
                  <a:pt x="1439759" y="4395500"/>
                  <a:pt x="1396887" y="4438370"/>
                </a:cubicBezTo>
                <a:cubicBezTo>
                  <a:pt x="1354017" y="4481241"/>
                  <a:pt x="1295871" y="4505325"/>
                  <a:pt x="1235243" y="4505325"/>
                </a:cubicBezTo>
                <a:lnTo>
                  <a:pt x="988363" y="4505325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7" id="27"/>
          <p:cNvSpPr txBox="true"/>
          <p:nvPr/>
        </p:nvSpPr>
        <p:spPr>
          <a:xfrm rot="0">
            <a:off x="0" y="8474727"/>
            <a:ext cx="2856309" cy="169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Group: 4</a:t>
            </a:r>
          </a:p>
          <a:p>
            <a:pPr algn="l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Mahmudul Hasan Al Amin</a:t>
            </a:r>
          </a:p>
          <a:p>
            <a:pPr algn="l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Md Rafiqul Islam Rana</a:t>
            </a:r>
          </a:p>
          <a:p>
            <a:pPr algn="l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Omar Ahammed Sakib</a:t>
            </a:r>
          </a:p>
          <a:p>
            <a:pPr algn="l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Shuvra Saha Rimjim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222811"/>
            <a:ext cx="4897441" cy="993267"/>
            <a:chOff x="0" y="0"/>
            <a:chExt cx="1289861" cy="2616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9861" cy="261601"/>
            </a:xfrm>
            <a:custGeom>
              <a:avLst/>
              <a:gdLst/>
              <a:ahLst/>
              <a:cxnLst/>
              <a:rect r="r" b="b" t="t" l="l"/>
              <a:pathLst>
                <a:path h="261601" w="1289861">
                  <a:moveTo>
                    <a:pt x="12646" y="0"/>
                  </a:moveTo>
                  <a:lnTo>
                    <a:pt x="1277215" y="0"/>
                  </a:lnTo>
                  <a:cubicBezTo>
                    <a:pt x="1284199" y="0"/>
                    <a:pt x="1289861" y="5662"/>
                    <a:pt x="1289861" y="12646"/>
                  </a:cubicBezTo>
                  <a:lnTo>
                    <a:pt x="1289861" y="248955"/>
                  </a:lnTo>
                  <a:cubicBezTo>
                    <a:pt x="1289861" y="252309"/>
                    <a:pt x="1288529" y="255525"/>
                    <a:pt x="1286157" y="257897"/>
                  </a:cubicBezTo>
                  <a:cubicBezTo>
                    <a:pt x="1283785" y="260269"/>
                    <a:pt x="1280569" y="261601"/>
                    <a:pt x="1277215" y="261601"/>
                  </a:cubicBezTo>
                  <a:lnTo>
                    <a:pt x="12646" y="261601"/>
                  </a:lnTo>
                  <a:cubicBezTo>
                    <a:pt x="9292" y="261601"/>
                    <a:pt x="6076" y="260269"/>
                    <a:pt x="3704" y="257897"/>
                  </a:cubicBezTo>
                  <a:cubicBezTo>
                    <a:pt x="1332" y="255525"/>
                    <a:pt x="0" y="252309"/>
                    <a:pt x="0" y="248955"/>
                  </a:cubicBezTo>
                  <a:lnTo>
                    <a:pt x="0" y="12646"/>
                  </a:lnTo>
                  <a:cubicBezTo>
                    <a:pt x="0" y="9292"/>
                    <a:pt x="1332" y="6076"/>
                    <a:pt x="3704" y="3704"/>
                  </a:cubicBezTo>
                  <a:cubicBezTo>
                    <a:pt x="6076" y="1332"/>
                    <a:pt x="9292" y="0"/>
                    <a:pt x="12646" y="0"/>
                  </a:cubicBezTo>
                  <a:close/>
                </a:path>
              </a:pathLst>
            </a:custGeom>
            <a:solidFill>
              <a:srgbClr val="4A53FA"/>
            </a:solidFill>
            <a:ln w="85725" cap="sq">
              <a:solidFill>
                <a:srgbClr val="00167A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1289861" cy="337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40"/>
                </a:lnSpc>
              </a:pPr>
              <a:r>
                <a:rPr lang="en-US" b="true" sz="3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BillState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876300"/>
            <a:ext cx="13082659" cy="803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7"/>
              </a:lnSpc>
              <a:spcBef>
                <a:spcPct val="0"/>
              </a:spcBef>
            </a:pPr>
            <a:r>
              <a:rPr lang="en-US" b="true" sz="4300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4300" strike="noStrike" u="none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ORE COMPONENTS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77421" y="3469528"/>
            <a:ext cx="13781879" cy="102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  <a:spcBef>
                <a:spcPct val="0"/>
              </a:spcBef>
            </a:pPr>
            <a:r>
              <a:rPr lang="en-US" b="true" sz="3000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Thread-safe registry that maps track IDs to class names. Prevents duplicate billing even when an item lingers across multiple frames.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77421" y="4696348"/>
            <a:ext cx="13781879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  <a:spcBef>
                <a:spcPct val="0"/>
              </a:spcBef>
            </a:pPr>
            <a:r>
              <a:rPr lang="en-US" sz="3000">
                <a:solidFill>
                  <a:srgbClr val="C23B18"/>
                </a:solidFill>
                <a:latin typeface="Montserrat"/>
                <a:ea typeface="Montserrat"/>
                <a:cs typeface="Montserrat"/>
                <a:sym typeface="Montserrat"/>
              </a:rPr>
              <a:t>⟶ U</a:t>
            </a:r>
            <a:r>
              <a:rPr lang="en-US" sz="3000">
                <a:solidFill>
                  <a:srgbClr val="C23B18"/>
                </a:solidFill>
                <a:latin typeface="Montserrat"/>
                <a:ea typeface="Montserrat"/>
                <a:cs typeface="Montserrat"/>
                <a:sym typeface="Montserrat"/>
              </a:rPr>
              <a:t>ses threading.Lock() for concurrency safety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5742193"/>
            <a:ext cx="4897441" cy="993267"/>
            <a:chOff x="0" y="0"/>
            <a:chExt cx="1289861" cy="2616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9861" cy="261601"/>
            </a:xfrm>
            <a:custGeom>
              <a:avLst/>
              <a:gdLst/>
              <a:ahLst/>
              <a:cxnLst/>
              <a:rect r="r" b="b" t="t" l="l"/>
              <a:pathLst>
                <a:path h="261601" w="1289861">
                  <a:moveTo>
                    <a:pt x="12646" y="0"/>
                  </a:moveTo>
                  <a:lnTo>
                    <a:pt x="1277215" y="0"/>
                  </a:lnTo>
                  <a:cubicBezTo>
                    <a:pt x="1284199" y="0"/>
                    <a:pt x="1289861" y="5662"/>
                    <a:pt x="1289861" y="12646"/>
                  </a:cubicBezTo>
                  <a:lnTo>
                    <a:pt x="1289861" y="248955"/>
                  </a:lnTo>
                  <a:cubicBezTo>
                    <a:pt x="1289861" y="252309"/>
                    <a:pt x="1288529" y="255525"/>
                    <a:pt x="1286157" y="257897"/>
                  </a:cubicBezTo>
                  <a:cubicBezTo>
                    <a:pt x="1283785" y="260269"/>
                    <a:pt x="1280569" y="261601"/>
                    <a:pt x="1277215" y="261601"/>
                  </a:cubicBezTo>
                  <a:lnTo>
                    <a:pt x="12646" y="261601"/>
                  </a:lnTo>
                  <a:cubicBezTo>
                    <a:pt x="9292" y="261601"/>
                    <a:pt x="6076" y="260269"/>
                    <a:pt x="3704" y="257897"/>
                  </a:cubicBezTo>
                  <a:cubicBezTo>
                    <a:pt x="1332" y="255525"/>
                    <a:pt x="0" y="252309"/>
                    <a:pt x="0" y="248955"/>
                  </a:cubicBezTo>
                  <a:lnTo>
                    <a:pt x="0" y="12646"/>
                  </a:lnTo>
                  <a:cubicBezTo>
                    <a:pt x="0" y="9292"/>
                    <a:pt x="1332" y="6076"/>
                    <a:pt x="3704" y="3704"/>
                  </a:cubicBezTo>
                  <a:cubicBezTo>
                    <a:pt x="6076" y="1332"/>
                    <a:pt x="9292" y="0"/>
                    <a:pt x="12646" y="0"/>
                  </a:cubicBezTo>
                  <a:close/>
                </a:path>
              </a:pathLst>
            </a:custGeom>
            <a:solidFill>
              <a:srgbClr val="4A53FA"/>
            </a:solidFill>
            <a:ln w="85725" cap="sq">
              <a:solidFill>
                <a:srgbClr val="00167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1289861" cy="337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40"/>
                </a:lnSpc>
              </a:pPr>
              <a:r>
                <a:rPr lang="en-US" b="true" sz="3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Fr</a:t>
              </a:r>
              <a:r>
                <a:rPr lang="en-US" b="true" sz="30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ameLogger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477421" y="6935485"/>
            <a:ext cx="13781879" cy="1026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  <a:spcBef>
                <a:spcPct val="0"/>
              </a:spcBef>
            </a:pPr>
            <a:r>
              <a:rPr lang="en-US" b="true" sz="3000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Coll</a:t>
            </a:r>
            <a:r>
              <a:rPr lang="en-US" b="true" sz="3000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ects per-frame detection and tracking metrics: raw detections, filtered counts, tracked objects, and confidence scores.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77421" y="8162305"/>
            <a:ext cx="13781879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  <a:spcBef>
                <a:spcPct val="0"/>
              </a:spcBef>
            </a:pPr>
            <a:r>
              <a:rPr lang="en-US" sz="3000">
                <a:solidFill>
                  <a:srgbClr val="C23B18"/>
                </a:solidFill>
                <a:latin typeface="Montserrat"/>
                <a:ea typeface="Montserrat"/>
                <a:cs typeface="Montserrat"/>
                <a:sym typeface="Montserrat"/>
              </a:rPr>
              <a:t>⟶ Exports to a panda</a:t>
            </a:r>
            <a:r>
              <a:rPr lang="en-US" sz="3000">
                <a:solidFill>
                  <a:srgbClr val="C23B18"/>
                </a:solidFill>
                <a:latin typeface="Montserrat"/>
                <a:ea typeface="Montserrat"/>
                <a:cs typeface="Montserrat"/>
                <a:sym typeface="Montserrat"/>
              </a:rPr>
              <a:t>s DataFrame for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431691" y="8846200"/>
            <a:ext cx="2856309" cy="169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Group: 4</a:t>
            </a:r>
          </a:p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Mahmudul Hasan Al Amin</a:t>
            </a:r>
          </a:p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Md Rafiqul Islam Rana</a:t>
            </a:r>
          </a:p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Omar Ahammed Sakib</a:t>
            </a:r>
          </a:p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Shuvra Saha Rimjim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6300"/>
            <a:ext cx="13082659" cy="803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7"/>
              </a:lnSpc>
              <a:spcBef>
                <a:spcPct val="0"/>
              </a:spcBef>
            </a:pPr>
            <a:r>
              <a:rPr lang="en-US" b="true" sz="4300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SUPP</a:t>
            </a:r>
            <a:r>
              <a:rPr lang="en-US" b="true" sz="4300" strike="noStrike" u="none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ORTED PRODUCTS &amp; PRICING (BDT)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59327"/>
            <a:ext cx="14162879" cy="179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800"/>
              </a:lnSpc>
              <a:buFont typeface="Arial"/>
              <a:buChar char="•"/>
            </a:pPr>
            <a:r>
              <a:rPr lang="en-US" b="true" sz="3000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Total 32 it</a:t>
            </a:r>
            <a:r>
              <a:rPr lang="en-US" b="true" sz="3000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em classes used</a:t>
            </a:r>
          </a:p>
          <a:p>
            <a:pPr algn="l" marL="647700" indent="-323850" lvl="1">
              <a:lnSpc>
                <a:spcPts val="4800"/>
              </a:lnSpc>
              <a:buFont typeface="Arial"/>
              <a:buChar char="•"/>
            </a:pPr>
            <a:r>
              <a:rPr lang="en-US" b="true" sz="3000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Prices in Bangladeshi Taka (BDT)</a:t>
            </a:r>
          </a:p>
          <a:p>
            <a:pPr algn="l" marL="647700" indent="-323850" lvl="1">
              <a:lnSpc>
                <a:spcPts val="4800"/>
              </a:lnSpc>
              <a:buFont typeface="Arial"/>
              <a:buChar char="•"/>
            </a:pPr>
            <a:r>
              <a:rPr lang="en-US" b="true" sz="3000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Based on the COCO dataset categories relevant to retail.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79829" y="5048250"/>
            <a:ext cx="2717763" cy="4167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8740" indent="-279370" lvl="1">
              <a:lnSpc>
                <a:spcPts val="4140"/>
              </a:lnSpc>
              <a:buFont typeface="Arial"/>
              <a:buChar char="•"/>
            </a:pPr>
            <a:r>
              <a:rPr lang="en-US" b="true" sz="2587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bottle</a:t>
            </a:r>
          </a:p>
          <a:p>
            <a:pPr algn="l" marL="558740" indent="-279370" lvl="1">
              <a:lnSpc>
                <a:spcPts val="4140"/>
              </a:lnSpc>
              <a:buFont typeface="Arial"/>
              <a:buChar char="•"/>
            </a:pPr>
            <a:r>
              <a:rPr lang="en-US" b="true" sz="2587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cup</a:t>
            </a:r>
          </a:p>
          <a:p>
            <a:pPr algn="l" marL="558740" indent="-279370" lvl="1">
              <a:lnSpc>
                <a:spcPts val="4140"/>
              </a:lnSpc>
              <a:buFont typeface="Arial"/>
              <a:buChar char="•"/>
            </a:pPr>
            <a:r>
              <a:rPr lang="en-US" b="true" sz="2587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knife</a:t>
            </a:r>
          </a:p>
          <a:p>
            <a:pPr algn="l" marL="558740" indent="-279370" lvl="1">
              <a:lnSpc>
                <a:spcPts val="4140"/>
              </a:lnSpc>
              <a:buFont typeface="Arial"/>
              <a:buChar char="•"/>
            </a:pPr>
            <a:r>
              <a:rPr lang="en-US" b="true" sz="2587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spoon</a:t>
            </a:r>
          </a:p>
          <a:p>
            <a:pPr algn="l" marL="558740" indent="-279370" lvl="1">
              <a:lnSpc>
                <a:spcPts val="4140"/>
              </a:lnSpc>
              <a:buFont typeface="Arial"/>
              <a:buChar char="•"/>
            </a:pPr>
            <a:r>
              <a:rPr lang="en-US" b="true" sz="2587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bowl</a:t>
            </a:r>
          </a:p>
          <a:p>
            <a:pPr algn="l" marL="558740" indent="-279370" lvl="1">
              <a:lnSpc>
                <a:spcPts val="4140"/>
              </a:lnSpc>
              <a:buFont typeface="Arial"/>
              <a:buChar char="•"/>
            </a:pPr>
            <a:r>
              <a:rPr lang="en-US" b="true" sz="2587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banana</a:t>
            </a:r>
          </a:p>
          <a:p>
            <a:pPr algn="l" marL="558740" indent="-279370" lvl="1">
              <a:lnSpc>
                <a:spcPts val="4140"/>
              </a:lnSpc>
              <a:buFont typeface="Arial"/>
              <a:buChar char="•"/>
            </a:pPr>
            <a:r>
              <a:rPr lang="en-US" b="true" sz="2587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apple</a:t>
            </a:r>
          </a:p>
          <a:p>
            <a:pPr algn="l" marL="558740" indent="-279370" lvl="1">
              <a:lnSpc>
                <a:spcPts val="4140"/>
              </a:lnSpc>
              <a:buFont typeface="Arial"/>
              <a:buChar char="•"/>
            </a:pPr>
            <a:r>
              <a:rPr lang="en-US" b="true" sz="2587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sandwich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32459" y="5112314"/>
            <a:ext cx="2977727" cy="421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4126" indent="-282063" lvl="1">
              <a:lnSpc>
                <a:spcPts val="4180"/>
              </a:lnSpc>
              <a:buFont typeface="Arial"/>
              <a:buChar char="•"/>
            </a:pPr>
            <a:r>
              <a:rPr lang="en-US" b="true" sz="2612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tv</a:t>
            </a:r>
          </a:p>
          <a:p>
            <a:pPr algn="l" marL="564126" indent="-282063" lvl="1">
              <a:lnSpc>
                <a:spcPts val="4180"/>
              </a:lnSpc>
              <a:buFont typeface="Arial"/>
              <a:buChar char="•"/>
            </a:pPr>
            <a:r>
              <a:rPr lang="en-US" b="true" sz="2612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laptop</a:t>
            </a:r>
          </a:p>
          <a:p>
            <a:pPr algn="l" marL="564126" indent="-282063" lvl="1">
              <a:lnSpc>
                <a:spcPts val="4180"/>
              </a:lnSpc>
              <a:buFont typeface="Arial"/>
              <a:buChar char="•"/>
            </a:pPr>
            <a:r>
              <a:rPr lang="en-US" b="true" sz="2612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mouse</a:t>
            </a:r>
          </a:p>
          <a:p>
            <a:pPr algn="l" marL="564126" indent="-282063" lvl="1">
              <a:lnSpc>
                <a:spcPts val="4180"/>
              </a:lnSpc>
              <a:buFont typeface="Arial"/>
              <a:buChar char="•"/>
            </a:pPr>
            <a:r>
              <a:rPr lang="en-US" b="true" sz="2612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remote</a:t>
            </a:r>
          </a:p>
          <a:p>
            <a:pPr algn="l" marL="564126" indent="-282063" lvl="1">
              <a:lnSpc>
                <a:spcPts val="4180"/>
              </a:lnSpc>
              <a:buFont typeface="Arial"/>
              <a:buChar char="•"/>
            </a:pPr>
            <a:r>
              <a:rPr lang="en-US" b="true" sz="2612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keyboard</a:t>
            </a:r>
          </a:p>
          <a:p>
            <a:pPr algn="l" marL="564126" indent="-282063" lvl="1">
              <a:lnSpc>
                <a:spcPts val="4180"/>
              </a:lnSpc>
              <a:buFont typeface="Arial"/>
              <a:buChar char="•"/>
            </a:pPr>
            <a:r>
              <a:rPr lang="en-US" b="true" sz="2612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cell phone</a:t>
            </a:r>
          </a:p>
          <a:p>
            <a:pPr algn="l" marL="564126" indent="-282063" lvl="1">
              <a:lnSpc>
                <a:spcPts val="4180"/>
              </a:lnSpc>
              <a:buFont typeface="Arial"/>
              <a:buChar char="•"/>
            </a:pPr>
            <a:r>
              <a:rPr lang="en-US" b="true" sz="2612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microwave</a:t>
            </a:r>
          </a:p>
          <a:p>
            <a:pPr algn="l" marL="564126" indent="-282063" lvl="1">
              <a:lnSpc>
                <a:spcPts val="4180"/>
              </a:lnSpc>
              <a:buFont typeface="Arial"/>
              <a:buChar char="•"/>
            </a:pPr>
            <a:r>
              <a:rPr lang="en-US" b="true" sz="2612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oven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45053" y="5060080"/>
            <a:ext cx="2849119" cy="4262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7258" indent="-288629" lvl="1">
              <a:lnSpc>
                <a:spcPts val="4277"/>
              </a:lnSpc>
              <a:buFont typeface="Arial"/>
              <a:buChar char="•"/>
            </a:pPr>
            <a:r>
              <a:rPr lang="en-US" b="true" sz="2673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ora</a:t>
            </a:r>
            <a:r>
              <a:rPr lang="en-US" b="true" sz="2673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nge</a:t>
            </a:r>
          </a:p>
          <a:p>
            <a:pPr algn="l" marL="577258" indent="-288629" lvl="1">
              <a:lnSpc>
                <a:spcPts val="4277"/>
              </a:lnSpc>
              <a:buFont typeface="Arial"/>
              <a:buChar char="•"/>
            </a:pPr>
            <a:r>
              <a:rPr lang="en-US" b="true" sz="2673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broccoli</a:t>
            </a:r>
          </a:p>
          <a:p>
            <a:pPr algn="l" marL="577258" indent="-288629" lvl="1">
              <a:lnSpc>
                <a:spcPts val="4277"/>
              </a:lnSpc>
              <a:buFont typeface="Arial"/>
              <a:buChar char="•"/>
            </a:pPr>
            <a:r>
              <a:rPr lang="en-US" b="true" sz="2673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carr</a:t>
            </a:r>
            <a:r>
              <a:rPr lang="en-US" b="true" sz="2673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ot</a:t>
            </a:r>
          </a:p>
          <a:p>
            <a:pPr algn="l" marL="577258" indent="-288629" lvl="1">
              <a:lnSpc>
                <a:spcPts val="4277"/>
              </a:lnSpc>
              <a:buFont typeface="Arial"/>
              <a:buChar char="•"/>
            </a:pPr>
            <a:r>
              <a:rPr lang="en-US" b="true" sz="2673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pizza</a:t>
            </a:r>
          </a:p>
          <a:p>
            <a:pPr algn="l" marL="577258" indent="-288629" lvl="1">
              <a:lnSpc>
                <a:spcPts val="4277"/>
              </a:lnSpc>
              <a:buFont typeface="Arial"/>
              <a:buChar char="•"/>
            </a:pPr>
            <a:r>
              <a:rPr lang="en-US" b="true" sz="2673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donut</a:t>
            </a:r>
          </a:p>
          <a:p>
            <a:pPr algn="l" marL="577258" indent="-288629" lvl="1">
              <a:lnSpc>
                <a:spcPts val="4277"/>
              </a:lnSpc>
              <a:buFont typeface="Arial"/>
              <a:buChar char="•"/>
            </a:pPr>
            <a:r>
              <a:rPr lang="en-US" b="true" sz="2673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cake</a:t>
            </a:r>
          </a:p>
          <a:p>
            <a:pPr algn="l" marL="577258" indent="-288629" lvl="1">
              <a:lnSpc>
                <a:spcPts val="4277"/>
              </a:lnSpc>
              <a:buFont typeface="Arial"/>
              <a:buChar char="•"/>
            </a:pPr>
            <a:r>
              <a:rPr lang="en-US" b="true" sz="2673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hair drier</a:t>
            </a:r>
          </a:p>
          <a:p>
            <a:pPr algn="l" marL="577258" indent="-288629" lvl="1">
              <a:lnSpc>
                <a:spcPts val="4277"/>
              </a:lnSpc>
              <a:buFont typeface="Arial"/>
              <a:buChar char="•"/>
            </a:pPr>
            <a:r>
              <a:rPr lang="en-US" b="true" sz="2673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toothbrush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99257" y="5048250"/>
            <a:ext cx="3860043" cy="421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4126" indent="-282063" lvl="1">
              <a:lnSpc>
                <a:spcPts val="4180"/>
              </a:lnSpc>
              <a:buFont typeface="Arial"/>
              <a:buChar char="•"/>
            </a:pPr>
            <a:r>
              <a:rPr lang="en-US" b="true" sz="2612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to</a:t>
            </a:r>
            <a:r>
              <a:rPr lang="en-US" b="true" sz="2612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aster</a:t>
            </a:r>
          </a:p>
          <a:p>
            <a:pPr algn="l" marL="564126" indent="-282063" lvl="1">
              <a:lnSpc>
                <a:spcPts val="4180"/>
              </a:lnSpc>
              <a:buFont typeface="Arial"/>
              <a:buChar char="•"/>
            </a:pPr>
            <a:r>
              <a:rPr lang="en-US" b="true" sz="2612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book</a:t>
            </a:r>
          </a:p>
          <a:p>
            <a:pPr algn="l" marL="564126" indent="-282063" lvl="1">
              <a:lnSpc>
                <a:spcPts val="4180"/>
              </a:lnSpc>
              <a:buFont typeface="Arial"/>
              <a:buChar char="•"/>
            </a:pPr>
            <a:r>
              <a:rPr lang="en-US" b="true" sz="2612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clock</a:t>
            </a:r>
          </a:p>
          <a:p>
            <a:pPr algn="l" marL="564126" indent="-282063" lvl="1">
              <a:lnSpc>
                <a:spcPts val="4180"/>
              </a:lnSpc>
              <a:buFont typeface="Arial"/>
              <a:buChar char="•"/>
            </a:pPr>
            <a:r>
              <a:rPr lang="en-US" b="true" sz="2612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scissors</a:t>
            </a:r>
          </a:p>
          <a:p>
            <a:pPr algn="l" marL="564126" indent="-282063" lvl="1">
              <a:lnSpc>
                <a:spcPts val="4180"/>
              </a:lnSpc>
              <a:buFont typeface="Arial"/>
              <a:buChar char="•"/>
            </a:pPr>
            <a:r>
              <a:rPr lang="en-US" b="true" sz="2612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teddy bear</a:t>
            </a:r>
          </a:p>
          <a:p>
            <a:pPr algn="l" marL="564126" indent="-282063" lvl="1">
              <a:lnSpc>
                <a:spcPts val="4180"/>
              </a:lnSpc>
              <a:buFont typeface="Arial"/>
              <a:buChar char="•"/>
            </a:pPr>
            <a:r>
              <a:rPr lang="en-US" b="true" sz="2612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handbag</a:t>
            </a:r>
          </a:p>
          <a:p>
            <a:pPr algn="l" marL="564126" indent="-282063" lvl="1">
              <a:lnSpc>
                <a:spcPts val="4180"/>
              </a:lnSpc>
              <a:buFont typeface="Arial"/>
              <a:buChar char="•"/>
            </a:pPr>
            <a:r>
              <a:rPr lang="en-US" b="true" sz="2612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tie</a:t>
            </a:r>
          </a:p>
          <a:p>
            <a:pPr algn="l" marL="564126" indent="-282063" lvl="1">
              <a:lnSpc>
                <a:spcPts val="4180"/>
              </a:lnSpc>
              <a:buFont typeface="Arial"/>
              <a:buChar char="•"/>
            </a:pPr>
            <a:r>
              <a:rPr lang="en-US" b="true" sz="2612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sports ball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5155" y="4453606"/>
            <a:ext cx="6144875" cy="463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2"/>
              </a:lnSpc>
            </a:pPr>
            <a:r>
              <a:rPr lang="en-US" sz="2495" b="true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Classes are: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31691" y="-66675"/>
            <a:ext cx="2856309" cy="169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Group: 4</a:t>
            </a:r>
          </a:p>
          <a:p>
            <a:pPr algn="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Mahmudul Hasan Al Amin</a:t>
            </a:r>
          </a:p>
          <a:p>
            <a:pPr algn="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Md Rafiqul Islam Rana</a:t>
            </a:r>
          </a:p>
          <a:p>
            <a:pPr algn="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Omar Ahammed Sakib</a:t>
            </a:r>
          </a:p>
          <a:p>
            <a:pPr algn="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Shuvra Saha Rimjim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76300"/>
            <a:ext cx="13082659" cy="803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7"/>
              </a:lnSpc>
              <a:spcBef>
                <a:spcPct val="0"/>
              </a:spcBef>
            </a:pPr>
            <a:r>
              <a:rPr lang="en-US" b="true" sz="4300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4300" strike="noStrike" u="none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OST-RUN ANALYSIS &amp; METRICS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05686"/>
            <a:ext cx="5379827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  <a:spcBef>
                <a:spcPct val="0"/>
              </a:spcBef>
            </a:pPr>
            <a:r>
              <a:rPr lang="en-US" b="true" sz="3000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G</a:t>
            </a:r>
            <a:r>
              <a:rPr lang="en-US" b="true" sz="3000">
                <a:solidFill>
                  <a:srgbClr val="22222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enerated Visualizations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3345" y="2880081"/>
            <a:ext cx="7417468" cy="1570239"/>
            <a:chOff x="0" y="0"/>
            <a:chExt cx="1953572" cy="4135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3572" cy="413561"/>
            </a:xfrm>
            <a:custGeom>
              <a:avLst/>
              <a:gdLst/>
              <a:ahLst/>
              <a:cxnLst/>
              <a:rect r="r" b="b" t="t" l="l"/>
              <a:pathLst>
                <a:path h="413561" w="1953572">
                  <a:moveTo>
                    <a:pt x="0" y="0"/>
                  </a:moveTo>
                  <a:lnTo>
                    <a:pt x="1953572" y="0"/>
                  </a:lnTo>
                  <a:lnTo>
                    <a:pt x="1953572" y="413561"/>
                  </a:lnTo>
                  <a:lnTo>
                    <a:pt x="0" y="413561"/>
                  </a:lnTo>
                  <a:close/>
                </a:path>
              </a:pathLst>
            </a:custGeom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953572" cy="461186"/>
            </a:xfrm>
            <a:prstGeom prst="rect">
              <a:avLst/>
            </a:prstGeom>
          </p:spPr>
          <p:txBody>
            <a:bodyPr anchor="ctr" rtlCol="false" tIns="190500" lIns="190500" bIns="190500" rIns="190500"/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12100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Detections per Frame</a:t>
              </a:r>
            </a:p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12100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Raw YOLO vs. class-filtered vs. confirmed DeepSORT tracks over time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93345" y="4821795"/>
            <a:ext cx="7417468" cy="1570239"/>
            <a:chOff x="0" y="0"/>
            <a:chExt cx="1953572" cy="4135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53572" cy="413561"/>
            </a:xfrm>
            <a:custGeom>
              <a:avLst/>
              <a:gdLst/>
              <a:ahLst/>
              <a:cxnLst/>
              <a:rect r="r" b="b" t="t" l="l"/>
              <a:pathLst>
                <a:path h="413561" w="1953572">
                  <a:moveTo>
                    <a:pt x="0" y="0"/>
                  </a:moveTo>
                  <a:lnTo>
                    <a:pt x="1953572" y="0"/>
                  </a:lnTo>
                  <a:lnTo>
                    <a:pt x="1953572" y="413561"/>
                  </a:lnTo>
                  <a:lnTo>
                    <a:pt x="0" y="413561"/>
                  </a:lnTo>
                  <a:close/>
                </a:path>
              </a:pathLst>
            </a:custGeom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953572" cy="461186"/>
            </a:xfrm>
            <a:prstGeom prst="rect">
              <a:avLst/>
            </a:prstGeom>
          </p:spPr>
          <p:txBody>
            <a:bodyPr anchor="ctr" rtlCol="false" tIns="190500" lIns="190500" bIns="190500" rIns="190500"/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12100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Average Confidence per Frame</a:t>
              </a:r>
            </a:p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12100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Rolling confidence with threshold bands (0.4 / 0.5 / 0.75)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3345" y="6763509"/>
            <a:ext cx="7417468" cy="1570239"/>
            <a:chOff x="0" y="0"/>
            <a:chExt cx="1953572" cy="4135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3572" cy="413561"/>
            </a:xfrm>
            <a:custGeom>
              <a:avLst/>
              <a:gdLst/>
              <a:ahLst/>
              <a:cxnLst/>
              <a:rect r="r" b="b" t="t" l="l"/>
              <a:pathLst>
                <a:path h="413561" w="1953572">
                  <a:moveTo>
                    <a:pt x="0" y="0"/>
                  </a:moveTo>
                  <a:lnTo>
                    <a:pt x="1953572" y="0"/>
                  </a:lnTo>
                  <a:lnTo>
                    <a:pt x="1953572" y="413561"/>
                  </a:lnTo>
                  <a:lnTo>
                    <a:pt x="0" y="413561"/>
                  </a:lnTo>
                  <a:close/>
                </a:path>
              </a:pathLst>
            </a:custGeom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953572" cy="461186"/>
            </a:xfrm>
            <a:prstGeom prst="rect">
              <a:avLst/>
            </a:prstGeom>
          </p:spPr>
          <p:txBody>
            <a:bodyPr anchor="ctr" rtlCol="false" tIns="190500" lIns="190500" bIns="190500" rIns="190500"/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12100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Confidence Distribution</a:t>
              </a:r>
            </a:p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12100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Histogr</a:t>
              </a:r>
              <a:r>
                <a:rPr lang="en-US" sz="1999">
                  <a:solidFill>
                    <a:srgbClr val="12100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am of all detection confidence scores across the video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41832" y="2880081"/>
            <a:ext cx="7417468" cy="1570239"/>
            <a:chOff x="0" y="0"/>
            <a:chExt cx="1953572" cy="4135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3572" cy="413561"/>
            </a:xfrm>
            <a:custGeom>
              <a:avLst/>
              <a:gdLst/>
              <a:ahLst/>
              <a:cxnLst/>
              <a:rect r="r" b="b" t="t" l="l"/>
              <a:pathLst>
                <a:path h="413561" w="1953572">
                  <a:moveTo>
                    <a:pt x="0" y="0"/>
                  </a:moveTo>
                  <a:lnTo>
                    <a:pt x="1953572" y="0"/>
                  </a:lnTo>
                  <a:lnTo>
                    <a:pt x="1953572" y="413561"/>
                  </a:lnTo>
                  <a:lnTo>
                    <a:pt x="0" y="413561"/>
                  </a:lnTo>
                  <a:close/>
                </a:path>
              </a:pathLst>
            </a:custGeom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953572" cy="461186"/>
            </a:xfrm>
            <a:prstGeom prst="rect">
              <a:avLst/>
            </a:prstGeom>
          </p:spPr>
          <p:txBody>
            <a:bodyPr anchor="ctr" rtlCol="false" tIns="190500" lIns="190500" bIns="190500" rIns="190500"/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12100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Detection Stability</a:t>
              </a:r>
            </a:p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12100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Per-tr</a:t>
              </a:r>
              <a:r>
                <a:rPr lang="en-US" sz="1999">
                  <a:solidFill>
                    <a:srgbClr val="12100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ack confidence over frames — measures DeepSORT consistency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41832" y="4821795"/>
            <a:ext cx="7417468" cy="1570239"/>
            <a:chOff x="0" y="0"/>
            <a:chExt cx="1953572" cy="4135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53572" cy="413561"/>
            </a:xfrm>
            <a:custGeom>
              <a:avLst/>
              <a:gdLst/>
              <a:ahLst/>
              <a:cxnLst/>
              <a:rect r="r" b="b" t="t" l="l"/>
              <a:pathLst>
                <a:path h="413561" w="1953572">
                  <a:moveTo>
                    <a:pt x="0" y="0"/>
                  </a:moveTo>
                  <a:lnTo>
                    <a:pt x="1953572" y="0"/>
                  </a:lnTo>
                  <a:lnTo>
                    <a:pt x="1953572" y="413561"/>
                  </a:lnTo>
                  <a:lnTo>
                    <a:pt x="0" y="413561"/>
                  </a:lnTo>
                  <a:close/>
                </a:path>
              </a:pathLst>
            </a:custGeom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953572" cy="461186"/>
            </a:xfrm>
            <a:prstGeom prst="rect">
              <a:avLst/>
            </a:prstGeom>
          </p:spPr>
          <p:txBody>
            <a:bodyPr anchor="ctr" rtlCol="false" tIns="190500" lIns="190500" bIns="190500" rIns="190500"/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12100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Tracking Continuity Table</a:t>
              </a:r>
            </a:p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12100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ID</a:t>
              </a:r>
              <a:r>
                <a:rPr lang="en-US" sz="1999">
                  <a:solidFill>
                    <a:srgbClr val="12100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switch rate: unique track IDs vs. actual physical objects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429667" y="8592248"/>
            <a:ext cx="2858333" cy="1694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21"/>
              </a:lnSpc>
              <a:spcBef>
                <a:spcPct val="0"/>
              </a:spcBef>
            </a:pPr>
            <a:r>
              <a:rPr lang="en-US" sz="1701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Group: 4</a:t>
            </a:r>
          </a:p>
          <a:p>
            <a:pPr algn="r">
              <a:lnSpc>
                <a:spcPts val="2721"/>
              </a:lnSpc>
              <a:spcBef>
                <a:spcPct val="0"/>
              </a:spcBef>
            </a:pPr>
            <a:r>
              <a:rPr lang="en-US" sz="1701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Mahmudul Hasan Al Amin</a:t>
            </a:r>
          </a:p>
          <a:p>
            <a:pPr algn="r">
              <a:lnSpc>
                <a:spcPts val="2721"/>
              </a:lnSpc>
              <a:spcBef>
                <a:spcPct val="0"/>
              </a:spcBef>
            </a:pPr>
            <a:r>
              <a:rPr lang="en-US" sz="1701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Md Rafiqul Islam Rana</a:t>
            </a:r>
          </a:p>
          <a:p>
            <a:pPr algn="r">
              <a:lnSpc>
                <a:spcPts val="2721"/>
              </a:lnSpc>
              <a:spcBef>
                <a:spcPct val="0"/>
              </a:spcBef>
            </a:pPr>
            <a:r>
              <a:rPr lang="en-US" sz="1701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Omar Ahammed Sakib</a:t>
            </a:r>
          </a:p>
          <a:p>
            <a:pPr algn="r">
              <a:lnSpc>
                <a:spcPts val="2721"/>
              </a:lnSpc>
              <a:spcBef>
                <a:spcPct val="0"/>
              </a:spcBef>
            </a:pPr>
            <a:r>
              <a:rPr lang="en-US" sz="1701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Shuvra Saha Rimjim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170920" y="4251531"/>
            <a:ext cx="8737624" cy="8737624"/>
            <a:chOff x="0" y="0"/>
            <a:chExt cx="11650166" cy="1165016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280823" y="280823"/>
              <a:ext cx="11088520" cy="11088520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33333">
                    <a:srgbClr val="000000">
                      <a:alpha val="40500"/>
                    </a:srgbClr>
                  </a:gs>
                  <a:gs pos="66667">
                    <a:srgbClr val="000000">
                      <a:alpha val="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circle">
                  <a:fillToRect l="50000" r="50000" t="50000" b="50000"/>
                </a:path>
              </a:gra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2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-6238028">
              <a:off x="1018114" y="1018114"/>
              <a:ext cx="9613937" cy="9613937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DFDFD">
                      <a:alpha val="100000"/>
                    </a:srgbClr>
                  </a:gs>
                  <a:gs pos="100000">
                    <a:srgbClr val="E4E4E4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0">
            <a:off x="13693913" y="-4368812"/>
            <a:ext cx="8737624" cy="8737624"/>
            <a:chOff x="0" y="0"/>
            <a:chExt cx="11650166" cy="11650166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280823" y="280823"/>
              <a:ext cx="11088520" cy="11088520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33333">
                    <a:srgbClr val="000000">
                      <a:alpha val="40500"/>
                    </a:srgbClr>
                  </a:gs>
                  <a:gs pos="66667">
                    <a:srgbClr val="000000">
                      <a:alpha val="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circle">
                  <a:fillToRect l="50000" r="50000" t="50000" b="50000"/>
                </a:path>
              </a:gra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2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-6238028">
              <a:off x="1018114" y="1018114"/>
              <a:ext cx="9613937" cy="9613937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DFDFD">
                      <a:alpha val="100000"/>
                    </a:srgbClr>
                  </a:gs>
                  <a:gs pos="100000">
                    <a:srgbClr val="E4E4E4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sp>
        <p:nvSpPr>
          <p:cNvPr name="Freeform 17" id="17"/>
          <p:cNvSpPr/>
          <p:nvPr/>
        </p:nvSpPr>
        <p:spPr>
          <a:xfrm flipH="false" flipV="false" rot="0">
            <a:off x="3733377" y="2027192"/>
            <a:ext cx="10821245" cy="7231108"/>
          </a:xfrm>
          <a:custGeom>
            <a:avLst/>
            <a:gdLst/>
            <a:ahLst/>
            <a:cxnLst/>
            <a:rect r="r" b="b" t="t" l="l"/>
            <a:pathLst>
              <a:path h="7231108" w="10821245">
                <a:moveTo>
                  <a:pt x="0" y="0"/>
                </a:moveTo>
                <a:lnTo>
                  <a:pt x="10821246" y="0"/>
                </a:lnTo>
                <a:lnTo>
                  <a:pt x="10821246" y="7231108"/>
                </a:lnTo>
                <a:lnTo>
                  <a:pt x="0" y="72311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876300"/>
            <a:ext cx="13082659" cy="803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7"/>
              </a:lnSpc>
              <a:spcBef>
                <a:spcPct val="0"/>
              </a:spcBef>
            </a:pPr>
            <a:r>
              <a:rPr lang="en-US" b="true" sz="4300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RESUL</a:t>
            </a:r>
            <a:r>
              <a:rPr lang="en-US" b="true" sz="4300" strike="noStrike" u="none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TS &amp; ANALYSIS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0" y="8501404"/>
            <a:ext cx="3003471" cy="1785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  <a:spcBef>
                <a:spcPct val="0"/>
              </a:spcBef>
            </a:pPr>
            <a:r>
              <a:rPr lang="en-US" sz="1787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Group: 4</a:t>
            </a:r>
          </a:p>
          <a:p>
            <a:pPr algn="l">
              <a:lnSpc>
                <a:spcPts val="2860"/>
              </a:lnSpc>
              <a:spcBef>
                <a:spcPct val="0"/>
              </a:spcBef>
            </a:pPr>
            <a:r>
              <a:rPr lang="en-US" sz="1787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Mahmudul Hasan Al Amin</a:t>
            </a:r>
          </a:p>
          <a:p>
            <a:pPr algn="l">
              <a:lnSpc>
                <a:spcPts val="2860"/>
              </a:lnSpc>
              <a:spcBef>
                <a:spcPct val="0"/>
              </a:spcBef>
            </a:pPr>
            <a:r>
              <a:rPr lang="en-US" sz="1787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Md Rafiqul Islam Rana</a:t>
            </a:r>
          </a:p>
          <a:p>
            <a:pPr algn="l">
              <a:lnSpc>
                <a:spcPts val="2860"/>
              </a:lnSpc>
              <a:spcBef>
                <a:spcPct val="0"/>
              </a:spcBef>
            </a:pPr>
            <a:r>
              <a:rPr lang="en-US" sz="1787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Omar Ahammed Sakib</a:t>
            </a:r>
          </a:p>
          <a:p>
            <a:pPr algn="l">
              <a:lnSpc>
                <a:spcPts val="2860"/>
              </a:lnSpc>
              <a:spcBef>
                <a:spcPct val="0"/>
              </a:spcBef>
            </a:pPr>
            <a:r>
              <a:rPr lang="en-US" sz="1787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Shuvra Saha Rimjim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170920" y="4251531"/>
            <a:ext cx="8737624" cy="8737624"/>
            <a:chOff x="0" y="0"/>
            <a:chExt cx="11650166" cy="1165016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280823" y="280823"/>
              <a:ext cx="11088520" cy="11088520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33333">
                    <a:srgbClr val="000000">
                      <a:alpha val="40500"/>
                    </a:srgbClr>
                  </a:gs>
                  <a:gs pos="66667">
                    <a:srgbClr val="000000">
                      <a:alpha val="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circle">
                  <a:fillToRect l="50000" r="50000" t="50000" b="50000"/>
                </a:path>
              </a:gra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2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-6238028">
              <a:off x="1018114" y="1018114"/>
              <a:ext cx="9613937" cy="9613937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DFDFD">
                      <a:alpha val="100000"/>
                    </a:srgbClr>
                  </a:gs>
                  <a:gs pos="100000">
                    <a:srgbClr val="E4E4E4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0">
            <a:off x="13693913" y="-4368812"/>
            <a:ext cx="8737624" cy="8737624"/>
            <a:chOff x="0" y="0"/>
            <a:chExt cx="11650166" cy="11650166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280823" y="280823"/>
              <a:ext cx="11088520" cy="11088520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33333">
                    <a:srgbClr val="000000">
                      <a:alpha val="40500"/>
                    </a:srgbClr>
                  </a:gs>
                  <a:gs pos="66667">
                    <a:srgbClr val="000000">
                      <a:alpha val="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circle">
                  <a:fillToRect l="50000" r="50000" t="50000" b="50000"/>
                </a:path>
              </a:gra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2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-6238028">
              <a:off x="1018114" y="1018114"/>
              <a:ext cx="9613937" cy="9613937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DFDFD">
                      <a:alpha val="100000"/>
                    </a:srgbClr>
                  </a:gs>
                  <a:gs pos="100000">
                    <a:srgbClr val="E4E4E4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sp>
        <p:nvSpPr>
          <p:cNvPr name="Freeform 17" id="17"/>
          <p:cNvSpPr/>
          <p:nvPr/>
        </p:nvSpPr>
        <p:spPr>
          <a:xfrm flipH="false" flipV="false" rot="0">
            <a:off x="2669458" y="2132753"/>
            <a:ext cx="12949085" cy="7125547"/>
          </a:xfrm>
          <a:custGeom>
            <a:avLst/>
            <a:gdLst/>
            <a:ahLst/>
            <a:cxnLst/>
            <a:rect r="r" b="b" t="t" l="l"/>
            <a:pathLst>
              <a:path h="7125547" w="12949085">
                <a:moveTo>
                  <a:pt x="0" y="0"/>
                </a:moveTo>
                <a:lnTo>
                  <a:pt x="12949084" y="0"/>
                </a:lnTo>
                <a:lnTo>
                  <a:pt x="12949084" y="7125547"/>
                </a:lnTo>
                <a:lnTo>
                  <a:pt x="0" y="71255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876300"/>
            <a:ext cx="13082659" cy="803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7"/>
              </a:lnSpc>
              <a:spcBef>
                <a:spcPct val="0"/>
              </a:spcBef>
            </a:pPr>
            <a:r>
              <a:rPr lang="en-US" b="true" sz="4300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RESUL</a:t>
            </a:r>
            <a:r>
              <a:rPr lang="en-US" b="true" sz="4300" strike="noStrike" u="none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TS &amp; ANALYSIS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402223" y="-66675"/>
            <a:ext cx="2856309" cy="169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Group: 4</a:t>
            </a:r>
          </a:p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Mahmudul Hasan Al Amin</a:t>
            </a:r>
          </a:p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Md Rafiqul Islam Rana</a:t>
            </a:r>
          </a:p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Omar Ahammed Sakib</a:t>
            </a:r>
          </a:p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Shuvra Saha Rimjim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70920" y="4251531"/>
            <a:ext cx="8737624" cy="8737624"/>
            <a:chOff x="0" y="0"/>
            <a:chExt cx="11650166" cy="1165016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80823" y="280823"/>
              <a:ext cx="11088520" cy="1108852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33333">
                    <a:srgbClr val="000000">
                      <a:alpha val="40500"/>
                    </a:srgbClr>
                  </a:gs>
                  <a:gs pos="66667">
                    <a:srgbClr val="000000">
                      <a:alpha val="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circle">
                  <a:fillToRect l="50000" r="50000" t="50000" b="50000"/>
                </a:path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2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-6238028">
              <a:off x="1018114" y="1018114"/>
              <a:ext cx="9613937" cy="9613937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DFDFD">
                      <a:alpha val="100000"/>
                    </a:srgbClr>
                  </a:gs>
                  <a:gs pos="100000">
                    <a:srgbClr val="E4E4E4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3693913" y="-4368812"/>
            <a:ext cx="8737624" cy="8737624"/>
            <a:chOff x="0" y="0"/>
            <a:chExt cx="11650166" cy="11650166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280823" y="280823"/>
              <a:ext cx="11088520" cy="11088520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0000">
                      <a:alpha val="100000"/>
                    </a:srgbClr>
                  </a:gs>
                  <a:gs pos="33333">
                    <a:srgbClr val="000000">
                      <a:alpha val="40500"/>
                    </a:srgbClr>
                  </a:gs>
                  <a:gs pos="66667">
                    <a:srgbClr val="000000">
                      <a:alpha val="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circle">
                  <a:fillToRect l="50000" r="50000" t="50000" b="50000"/>
                </a:path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2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6238028">
              <a:off x="1018114" y="1018114"/>
              <a:ext cx="9613937" cy="9613937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DFDFD">
                      <a:alpha val="100000"/>
                    </a:srgbClr>
                  </a:gs>
                  <a:gs pos="100000">
                    <a:srgbClr val="E4E4E4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1028700" y="876300"/>
            <a:ext cx="13082659" cy="803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7"/>
              </a:lnSpc>
              <a:spcBef>
                <a:spcPct val="0"/>
              </a:spcBef>
            </a:pPr>
            <a:r>
              <a:rPr lang="en-US" b="true" sz="4300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RESUL</a:t>
            </a:r>
            <a:r>
              <a:rPr lang="en-US" b="true" sz="4300" strike="noStrike" u="none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TS &amp; ANALYSIS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3746500"/>
            <a:ext cx="7954879" cy="551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b="true" sz="2499">
                <a:solidFill>
                  <a:srgbClr val="222222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- </a:t>
            </a:r>
            <a:r>
              <a:rPr lang="en-US" b="true" sz="2499">
                <a:solidFill>
                  <a:srgbClr val="222222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Video duration (processed): 74.6 s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b="true" sz="2499">
                <a:solidFill>
                  <a:srgbClr val="222222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- Total frames logged: 1295 Average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b="true" sz="2499">
                <a:solidFill>
                  <a:srgbClr val="222222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- processing FPS: 17.4 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b="true" sz="2499">
                <a:solidFill>
                  <a:srgbClr val="222222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- Total unique items billed: 12 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b="true" sz="2499">
                <a:solidFill>
                  <a:srgbClr val="222222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- Unique product classes: 9 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b="true" sz="2499">
                <a:solidFill>
                  <a:srgbClr val="222222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- Mean detection confidence: 0.878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b="true" sz="2499">
                <a:solidFill>
                  <a:srgbClr val="222222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- Detections below 0.50 conf: 3.9%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</a:p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b="true" sz="2499">
                <a:solidFill>
                  <a:srgbClr val="222222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- YOLO conf threshold used: 0.4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b="true" sz="2499">
                <a:solidFill>
                  <a:srgbClr val="222222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- DeepSORT max_age : 30 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b="true" sz="2499">
                <a:solidFill>
                  <a:srgbClr val="222222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- DeepSORT n_init : 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68172" y="3736975"/>
            <a:ext cx="7954879" cy="310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  <a:spcBef>
                <a:spcPct val="0"/>
              </a:spcBef>
            </a:pPr>
            <a:r>
              <a:rPr lang="en-US" b="true" sz="2587">
                <a:solidFill>
                  <a:srgbClr val="222222"/>
                </a:solidFill>
                <a:latin typeface="Fira Code Semi-Bold"/>
                <a:ea typeface="Fira Code Semi-Bold"/>
                <a:cs typeface="Fira Code Semi-Bold"/>
                <a:sym typeface="Fira Code Semi-Bold"/>
              </a:rPr>
              <a:t>- Total Detections 745 </a:t>
            </a:r>
          </a:p>
          <a:p>
            <a:pPr algn="l">
              <a:lnSpc>
                <a:spcPts val="4140"/>
              </a:lnSpc>
              <a:spcBef>
                <a:spcPct val="0"/>
              </a:spcBef>
            </a:pPr>
            <a:r>
              <a:rPr lang="en-US" b="true" sz="2587">
                <a:solidFill>
                  <a:srgbClr val="222222"/>
                </a:solidFill>
                <a:latin typeface="Fira Code Semi-Bold"/>
                <a:ea typeface="Fira Code Semi-Bold"/>
                <a:cs typeface="Fira Code Semi-Bold"/>
                <a:sym typeface="Fira Code Semi-Bold"/>
              </a:rPr>
              <a:t>- Unique Track IDs Assigned 11 </a:t>
            </a:r>
          </a:p>
          <a:p>
            <a:pPr algn="l">
              <a:lnSpc>
                <a:spcPts val="4140"/>
              </a:lnSpc>
              <a:spcBef>
                <a:spcPct val="0"/>
              </a:spcBef>
            </a:pPr>
            <a:r>
              <a:rPr lang="en-US" b="true" sz="2587">
                <a:solidFill>
                  <a:srgbClr val="222222"/>
                </a:solidFill>
                <a:latin typeface="Fira Code Semi-Bold"/>
                <a:ea typeface="Fira Code Semi-Bold"/>
                <a:cs typeface="Fira Code Semi-Bold"/>
                <a:sym typeface="Fira Code Semi-Bold"/>
              </a:rPr>
              <a:t>- Actual Physical Objects 10 </a:t>
            </a:r>
          </a:p>
          <a:p>
            <a:pPr algn="l">
              <a:lnSpc>
                <a:spcPts val="4140"/>
              </a:lnSpc>
              <a:spcBef>
                <a:spcPct val="0"/>
              </a:spcBef>
            </a:pPr>
            <a:r>
              <a:rPr lang="en-US" b="true" sz="2587">
                <a:solidFill>
                  <a:srgbClr val="222222"/>
                </a:solidFill>
                <a:latin typeface="Fira Code Semi-Bold"/>
                <a:ea typeface="Fira Code Semi-Bold"/>
                <a:cs typeface="Fira Code Semi-Bold"/>
                <a:sym typeface="Fira Code Semi-Bold"/>
              </a:rPr>
              <a:t>- ID Switches (Tracking Failures) 1</a:t>
            </a:r>
          </a:p>
          <a:p>
            <a:pPr algn="l">
              <a:lnSpc>
                <a:spcPts val="4140"/>
              </a:lnSpc>
              <a:spcBef>
                <a:spcPct val="0"/>
              </a:spcBef>
            </a:pPr>
          </a:p>
          <a:p>
            <a:pPr algn="l">
              <a:lnSpc>
                <a:spcPts val="4140"/>
              </a:lnSpc>
              <a:spcBef>
                <a:spcPct val="0"/>
              </a:spcBef>
            </a:pPr>
            <a:r>
              <a:rPr lang="en-US" b="true" sz="2587">
                <a:solidFill>
                  <a:srgbClr val="222222"/>
                </a:solidFill>
                <a:latin typeface="Fira Code Semi-Bold"/>
                <a:ea typeface="Fira Code Semi-Bold"/>
                <a:cs typeface="Fira Code Semi-Bold"/>
                <a:sym typeface="Fira Code Semi-Bold"/>
              </a:rPr>
              <a:t>Tracking Error Rate: 10.00%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74808" y="2108390"/>
            <a:ext cx="764411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Tracking Continuity &amp; Integrity Report</a:t>
            </a:r>
          </a:p>
          <a:p>
            <a:pPr algn="l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Performance Metric Count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2108390"/>
            <a:ext cx="319176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  <a:spcBef>
                <a:spcPct val="0"/>
              </a:spcBef>
            </a:pPr>
            <a:r>
              <a:rPr lang="en-US" b="true" sz="3000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Video Summary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402223" y="8592185"/>
            <a:ext cx="2856309" cy="169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Group: 4</a:t>
            </a:r>
          </a:p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Mahmudul Hasan Al Amin</a:t>
            </a:r>
          </a:p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Md Rafiqul Islam Rana</a:t>
            </a:r>
          </a:p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Omar Ahammed Sakib</a:t>
            </a:r>
          </a:p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Shuvra Saha Rimjim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684696"/>
            <a:ext cx="16230600" cy="834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2600" u="sng" b="true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Detection &amp; Model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sz="26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system is constrained to 32 COCO-pretrained classes, which cover only a small fraction of </a:t>
            </a:r>
            <a:r>
              <a:rPr lang="en-US" b="true" sz="2600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 retail SKUs</a:t>
            </a:r>
            <a:r>
              <a:rPr lang="en-US" sz="26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. Most actual store products (packaged goods, branded items) will go undetected.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sz="26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YOLOv10x is the largest and most accurate YOLO variant, but it requires significant </a:t>
            </a:r>
            <a:r>
              <a:rPr lang="en-US" b="true" sz="2600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GPU resources</a:t>
            </a:r>
            <a:r>
              <a:rPr lang="en-US" sz="26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, which isn't ideal for real-time performance.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sz="26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Items t</a:t>
            </a:r>
            <a:r>
              <a:rPr lang="en-US" sz="26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hat are partially occluded, stacked, or overlapping may be </a:t>
            </a:r>
            <a:r>
              <a:rPr lang="en-US" b="true" sz="2600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missed or double-detected</a:t>
            </a:r>
            <a:r>
              <a:rPr lang="en-US" sz="26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4160"/>
              </a:lnSpc>
            </a:pPr>
            <a:r>
              <a:rPr lang="en-US" sz="2600" u="sng" b="true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Tracking &amp; Billing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sz="26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When two similar-looking items (e.g., two identical cans) pass near each other, </a:t>
            </a:r>
            <a:r>
              <a:rPr lang="en-US" b="true" sz="2600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 switches </a:t>
            </a:r>
            <a:r>
              <a:rPr lang="en-US" sz="26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can occur, potentially leading to missed or duplicate billing entries.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sz="26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r>
              <a:rPr lang="en-US" sz="26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ery </a:t>
            </a:r>
            <a:r>
              <a:rPr lang="en-US" b="true" sz="2600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fast-moving items</a:t>
            </a:r>
            <a:r>
              <a:rPr lang="en-US" sz="26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 that appear briefly may never be billed.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sz="26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system bills by item class, </a:t>
            </a:r>
            <a:r>
              <a:rPr lang="en-US" b="true" sz="2600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 by individual SKU or barcode</a:t>
            </a:r>
            <a:r>
              <a:rPr lang="en-US" sz="26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4160"/>
              </a:lnSpc>
            </a:pPr>
            <a:r>
              <a:rPr lang="en-US" sz="2600" u="sng" b="true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&amp; Infrastructur</a:t>
            </a:r>
            <a:r>
              <a:rPr lang="en-US" sz="2600" u="sng" b="true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</a:t>
            </a:r>
          </a:p>
          <a:p>
            <a:pPr algn="l" marL="561341" indent="-280670" lvl="1">
              <a:lnSpc>
                <a:spcPts val="4160"/>
              </a:lnSpc>
              <a:buFont typeface="Arial"/>
              <a:buChar char="•"/>
            </a:pPr>
            <a:r>
              <a:rPr lang="en-US" sz="26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Designed and tested exclusively in Google Colab — there is </a:t>
            </a:r>
            <a:r>
              <a:rPr lang="en-US" b="true" sz="2600">
                <a:solidFill>
                  <a:srgbClr val="22222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deployment</a:t>
            </a:r>
            <a:r>
              <a:rPr lang="en-US" sz="26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 packaging, REST API, or edge-device support.</a:t>
            </a:r>
          </a:p>
          <a:p>
            <a:pPr algn="l">
              <a:lnSpc>
                <a:spcPts val="416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50672"/>
            <a:ext cx="7561341" cy="803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7"/>
              </a:lnSpc>
              <a:spcBef>
                <a:spcPct val="0"/>
              </a:spcBef>
            </a:pPr>
            <a:r>
              <a:rPr lang="en-US" b="true" sz="4300">
                <a:solidFill>
                  <a:srgbClr val="222222"/>
                </a:solidFill>
                <a:latin typeface="Poppins Bold"/>
                <a:ea typeface="Poppins Bold"/>
                <a:cs typeface="Poppins Bold"/>
                <a:sym typeface="Poppins Bold"/>
              </a:rPr>
              <a:t>LIMITATIONS: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402223" y="-66675"/>
            <a:ext cx="2856309" cy="169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Group: 4</a:t>
            </a:r>
          </a:p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Mahmudul Hasan Al Amin</a:t>
            </a:r>
          </a:p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Md Rafiqul Islam Rana</a:t>
            </a:r>
          </a:p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Omar Ahammed Sakib</a:t>
            </a:r>
          </a:p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Shuvra Saha Rimjim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9B4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5350"/>
            <a:ext cx="13082659" cy="78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7"/>
              </a:lnSpc>
              <a:spcBef>
                <a:spcPct val="0"/>
              </a:spcBef>
            </a:pPr>
            <a:r>
              <a:rPr lang="en-US" sz="4300" spc="-86">
                <a:solidFill>
                  <a:srgbClr val="D8A790"/>
                </a:solidFill>
                <a:latin typeface="RoxboroughCF"/>
                <a:ea typeface="RoxboroughCF"/>
                <a:cs typeface="RoxboroughCF"/>
                <a:sym typeface="RoxboroughCF"/>
              </a:rPr>
              <a:t>Conclusion &amp; Future Work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232025"/>
            <a:ext cx="16230600" cy="702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999"/>
              </a:lnSpc>
              <a:buAutoNum type="arabicPeriod" startAt="1"/>
            </a:pPr>
            <a:r>
              <a:rPr lang="en-US" sz="2499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Expanded Detection</a:t>
            </a:r>
          </a:p>
          <a:p>
            <a:pPr algn="l" marL="1079499" indent="-359833" lvl="2">
              <a:lnSpc>
                <a:spcPts val="3999"/>
              </a:lnSpc>
              <a:buAutoNum type="alphaLcPeriod" startAt="1"/>
            </a:pPr>
            <a:r>
              <a:rPr lang="en-US" sz="2499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Fine-tune a </a:t>
            </a:r>
            <a:r>
              <a:rPr lang="en-US" b="true" sz="2499">
                <a:solidFill>
                  <a:srgbClr val="EFE7D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 YOLO model </a:t>
            </a:r>
            <a:r>
              <a:rPr lang="en-US" sz="2499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on a </a:t>
            </a:r>
            <a:r>
              <a:rPr lang="en-US" b="true" sz="2499">
                <a:solidFill>
                  <a:srgbClr val="EFE7D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domain-specific retail dataset</a:t>
            </a:r>
            <a:r>
              <a:rPr lang="en-US" sz="2499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1079499" indent="-359833" lvl="2">
              <a:lnSpc>
                <a:spcPts val="3999"/>
              </a:lnSpc>
              <a:buAutoNum type="alphaLcPeriod" startAt="1"/>
            </a:pPr>
            <a:r>
              <a:rPr lang="en-US" sz="2499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Add</a:t>
            </a:r>
            <a:r>
              <a:rPr lang="en-US" b="true" sz="2499">
                <a:solidFill>
                  <a:srgbClr val="EFE7D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barcode/QR </a:t>
            </a:r>
            <a:r>
              <a:rPr lang="en-US" sz="2499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code scanning as a fallback</a:t>
            </a:r>
          </a:p>
          <a:p>
            <a:pPr algn="l" marL="1079499" indent="-359833" lvl="2">
              <a:lnSpc>
                <a:spcPts val="3999"/>
              </a:lnSpc>
              <a:buAutoNum type="alphaLcPeriod" startAt="1"/>
            </a:pPr>
            <a:r>
              <a:rPr lang="en-US" sz="2499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Explore lighter models (YOLOv10n or YOLOv10s) for edge deployment.</a:t>
            </a:r>
          </a:p>
          <a:p>
            <a:pPr algn="l" marL="539749" indent="-269875" lvl="1">
              <a:lnSpc>
                <a:spcPts val="3999"/>
              </a:lnSpc>
              <a:buAutoNum type="arabicPeriod" startAt="1"/>
            </a:pPr>
            <a:r>
              <a:rPr lang="en-US" sz="2499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Smarter Tracking &amp; Billing</a:t>
            </a:r>
          </a:p>
          <a:p>
            <a:pPr algn="l" marL="1079499" indent="-359833" lvl="2">
              <a:lnSpc>
                <a:spcPts val="3999"/>
              </a:lnSpc>
              <a:buAutoNum type="alphaLcPeriod" startAt="1"/>
            </a:pPr>
            <a:r>
              <a:rPr lang="en-US" sz="2499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Introduce </a:t>
            </a:r>
            <a:r>
              <a:rPr lang="en-US" b="true" sz="2499">
                <a:solidFill>
                  <a:srgbClr val="EFE7D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weight-sensor fusion</a:t>
            </a:r>
          </a:p>
          <a:p>
            <a:pPr algn="l" marL="1079499" indent="-359833" lvl="2">
              <a:lnSpc>
                <a:spcPts val="3999"/>
              </a:lnSpc>
              <a:buAutoNum type="alphaLcPeriod" startAt="1"/>
            </a:pPr>
            <a:r>
              <a:rPr lang="en-US" sz="2499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Replace the class-level pricing with SKU-level identification</a:t>
            </a:r>
          </a:p>
          <a:p>
            <a:pPr algn="l" marL="539749" indent="-269875" lvl="1">
              <a:lnSpc>
                <a:spcPts val="3999"/>
              </a:lnSpc>
              <a:buAutoNum type="arabicPeriod" startAt="1"/>
            </a:pPr>
            <a:r>
              <a:rPr lang="en-US" sz="2499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Robustness &amp; Reliability</a:t>
            </a:r>
          </a:p>
          <a:p>
            <a:pPr algn="l" marL="1079499" indent="-359833" lvl="2">
              <a:lnSpc>
                <a:spcPts val="3999"/>
              </a:lnSpc>
              <a:buAutoNum type="alphaLcPeriod" startAt="1"/>
            </a:pPr>
            <a:r>
              <a:rPr lang="en-US" sz="2499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Add </a:t>
            </a:r>
            <a:r>
              <a:rPr lang="en-US" b="true" sz="2499">
                <a:solidFill>
                  <a:srgbClr val="EFE7D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adaptive confidence thresholding</a:t>
            </a:r>
            <a:r>
              <a:rPr lang="en-US" sz="2499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 based on the brightness and camera quality.</a:t>
            </a:r>
          </a:p>
          <a:p>
            <a:pPr algn="l" marL="1079499" indent="-359833" lvl="2">
              <a:lnSpc>
                <a:spcPts val="3999"/>
              </a:lnSpc>
              <a:buAutoNum type="alphaLcPeriod" startAt="1"/>
            </a:pPr>
            <a:r>
              <a:rPr lang="en-US" sz="2499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Build a </a:t>
            </a:r>
            <a:r>
              <a:rPr lang="en-US" b="true" sz="2499">
                <a:solidFill>
                  <a:srgbClr val="EFE7D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validation loop that cross-checks</a:t>
            </a:r>
            <a:r>
              <a:rPr lang="en-US" sz="2499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 billed items against known session entry/exit events to catch ghost detections.</a:t>
            </a:r>
          </a:p>
          <a:p>
            <a:pPr algn="l" marL="539749" indent="-269875" lvl="1">
              <a:lnSpc>
                <a:spcPts val="3999"/>
              </a:lnSpc>
              <a:buAutoNum type="arabicPeriod" startAt="1"/>
            </a:pPr>
            <a:r>
              <a:rPr lang="en-US" sz="2499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Deployment &amp; Integration</a:t>
            </a:r>
          </a:p>
          <a:p>
            <a:pPr algn="l" marL="1079499" indent="-359833" lvl="2">
              <a:lnSpc>
                <a:spcPts val="3999"/>
              </a:lnSpc>
              <a:buAutoNum type="alphaLcPeriod" startAt="1"/>
            </a:pPr>
            <a:r>
              <a:rPr lang="en-US" sz="2499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Build a </a:t>
            </a:r>
            <a:r>
              <a:rPr lang="en-US" b="true" sz="2499">
                <a:solidFill>
                  <a:srgbClr val="EFE7D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real-time web dashboard</a:t>
            </a:r>
            <a:r>
              <a:rPr lang="en-US" sz="2499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 (e.g., with FastAPI + WebSockets) that streams the annotated video and live bill to a customer-facing display.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402223" y="8592185"/>
            <a:ext cx="2856309" cy="169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Group: 4</a:t>
            </a:r>
          </a:p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Mahmudul Hasan Al Amin</a:t>
            </a:r>
          </a:p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Md Rafiqul Islam Rana</a:t>
            </a:r>
          </a:p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Omar Ahammed Sakib</a:t>
            </a:r>
          </a:p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Shuvra Saha Rimjim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170920" y="4251531"/>
            <a:ext cx="8737624" cy="8737624"/>
            <a:chOff x="0" y="0"/>
            <a:chExt cx="11650166" cy="1165016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280823" y="280823"/>
              <a:ext cx="11088520" cy="11088520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4286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2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-6238028">
              <a:off x="1018114" y="1018114"/>
              <a:ext cx="9613937" cy="9613937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4286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0">
            <a:off x="13693913" y="-4368812"/>
            <a:ext cx="8737624" cy="8737624"/>
            <a:chOff x="0" y="0"/>
            <a:chExt cx="11650166" cy="11650166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280823" y="280823"/>
              <a:ext cx="11088520" cy="11088520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4286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2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-6238028">
              <a:off x="1018114" y="1018114"/>
              <a:ext cx="9613937" cy="9613937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4286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38"/>
                  </a:lnSpc>
                </a:pPr>
              </a:p>
            </p:txBody>
          </p:sp>
        </p:grp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40230" y="2559989"/>
            <a:ext cx="14607540" cy="5167022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6234985" y="6690691"/>
            <a:ext cx="8995490" cy="1355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23"/>
              </a:lnSpc>
            </a:pPr>
            <a:r>
              <a:rPr lang="en-US" sz="10125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 – Qu</a:t>
            </a:r>
            <a:r>
              <a:rPr lang="en-US" sz="10125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es</a:t>
            </a:r>
            <a:r>
              <a:rPr lang="en-US" sz="10125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tions?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402223" y="8553668"/>
            <a:ext cx="2856309" cy="169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Group: 4</a:t>
            </a:r>
          </a:p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Mahmudul Hasan Al Amin</a:t>
            </a:r>
          </a:p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Md Rafiqul Islam Rana</a:t>
            </a:r>
          </a:p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Omar Ahammed Sakib</a:t>
            </a:r>
          </a:p>
          <a:p>
            <a:pPr algn="ctr">
              <a:lnSpc>
                <a:spcPts val="2720"/>
              </a:lnSpc>
              <a:spcBef>
                <a:spcPct val="0"/>
              </a:spcBef>
            </a:pPr>
            <a:r>
              <a:rPr lang="en-US" sz="1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Shuvra Saha Rimjim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DAHIoczDPiM</dc:identifier>
  <dcterms:modified xsi:type="dcterms:W3CDTF">2011-08-01T06:04:30Z</dcterms:modified>
  <cp:revision>1</cp:revision>
  <dc:title>468 Self Checkout</dc:title>
</cp:coreProperties>
</file>